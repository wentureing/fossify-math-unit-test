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7"/>
  </p:notesMasterIdLst>
  <p:sldIdLst>
    <p:sldId id="409" r:id="rId4"/>
    <p:sldId id="410" r:id="rId5"/>
    <p:sldId id="411" r:id="rId6"/>
    <p:sldId id="413" r:id="rId8"/>
    <p:sldId id="435" r:id="rId9"/>
    <p:sldId id="436" r:id="rId10"/>
    <p:sldId id="445" r:id="rId11"/>
    <p:sldId id="446" r:id="rId12"/>
    <p:sldId id="437" r:id="rId13"/>
    <p:sldId id="415" r:id="rId14"/>
    <p:sldId id="439" r:id="rId15"/>
    <p:sldId id="438" r:id="rId16"/>
    <p:sldId id="440" r:id="rId17"/>
    <p:sldId id="419" r:id="rId18"/>
    <p:sldId id="441" r:id="rId19"/>
    <p:sldId id="257" r:id="rId20"/>
    <p:sldId id="258" r:id="rId21"/>
    <p:sldId id="259" r:id="rId22"/>
    <p:sldId id="260" r:id="rId23"/>
    <p:sldId id="261" r:id="rId24"/>
    <p:sldId id="442" r:id="rId25"/>
    <p:sldId id="423" r:id="rId26"/>
    <p:sldId id="447" r:id="rId27"/>
    <p:sldId id="448" r:id="rId28"/>
    <p:sldId id="449" r:id="rId29"/>
    <p:sldId id="451" r:id="rId30"/>
    <p:sldId id="427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0" userDrawn="1">
          <p15:clr>
            <a:srgbClr val="A4A3A4"/>
          </p15:clr>
        </p15:guide>
        <p15:guide id="2" pos="382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1568F"/>
    <a:srgbClr val="1C4F90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93" autoAdjust="0"/>
    <p:restoredTop sz="96331" autoAdjust="0"/>
  </p:normalViewPr>
  <p:slideViewPr>
    <p:cSldViewPr snapToGrid="0" showGuides="1">
      <p:cViewPr varScale="1">
        <p:scale>
          <a:sx n="126" d="100"/>
          <a:sy n="126" d="100"/>
        </p:scale>
        <p:origin x="344" y="200"/>
      </p:cViewPr>
      <p:guideLst>
        <p:guide orient="horz" pos="2120"/>
        <p:guide pos="382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1FE51-56ED-4F3D-BD18-3CBE1697EF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CCBE89-2C87-4B32-9C74-6BFC6C98583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模板来自于：第一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https://www.1ppt.com/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CCBE89-2C87-4B32-9C74-6BFC6C98583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2000">
    <p:wedg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9"/>
          <p:cNvSpPr txBox="1"/>
          <p:nvPr userDrawn="1"/>
        </p:nvSpPr>
        <p:spPr>
          <a:xfrm>
            <a:off x="11759951" y="0"/>
            <a:ext cx="43204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hlinkClick r:id="rId2"/>
              </a:rPr>
              <a:t>下载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</a:rPr>
              <a:t> </a:t>
            </a: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</a:rPr>
              <a:t>http://www.1ppt.com/xiazai/</a:t>
            </a:r>
            <a:endParaRPr lang="en-US" altLang="zh-CN" sz="100" dirty="0">
              <a:solidFill>
                <a:prstClr val="black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p:transition advTm="2000">
    <p:wedg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0"/>
            <a:ext cx="28448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600" y="6356350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0"/>
            <a:ext cx="28448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advTm="2000">
    <p:wedg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2000">
    <p:wedg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4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5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advTm="2000">
    <p:wedge/>
  </p:transition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25.xml"/><Relationship Id="rId13" Type="http://schemas.openxmlformats.org/officeDocument/2006/relationships/tags" Target="../tags/tag24.xml"/><Relationship Id="rId12" Type="http://schemas.openxmlformats.org/officeDocument/2006/relationships/tags" Target="../tags/tag23.xml"/><Relationship Id="rId11" Type="http://schemas.openxmlformats.org/officeDocument/2006/relationships/tags" Target="../tags/tag22.xml"/><Relationship Id="rId10" Type="http://schemas.openxmlformats.org/officeDocument/2006/relationships/tags" Target="../tags/tag21.xml"/><Relationship Id="rId1" Type="http://schemas.openxmlformats.org/officeDocument/2006/relationships/tags" Target="../tags/tag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6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4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35.xml"/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0" y="-8255"/>
            <a:ext cx="12263120" cy="6936105"/>
            <a:chOff x="0" y="-13"/>
            <a:chExt cx="19312" cy="10923"/>
          </a:xfrm>
        </p:grpSpPr>
        <p:sp>
          <p:nvSpPr>
            <p:cNvPr id="2050" name="等腰三角形 6"/>
            <p:cNvSpPr>
              <a:spLocks noChangeArrowheads="1"/>
            </p:cNvSpPr>
            <p:nvPr/>
          </p:nvSpPr>
          <p:spPr bwMode="auto">
            <a:xfrm rot="16200000">
              <a:off x="11492" y="2837"/>
              <a:ext cx="10314" cy="5077"/>
            </a:xfrm>
            <a:prstGeom prst="triangle">
              <a:avLst>
                <a:gd name="adj" fmla="val 50000"/>
              </a:avLst>
            </a:prstGeom>
            <a:solidFill>
              <a:srgbClr val="1C4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395E8A"/>
                  </a:solidFill>
                  <a:bevel/>
                </a14:hiddenLine>
              </a:ext>
            </a:extLst>
          </p:spPr>
          <p:txBody>
            <a:bodyPr anchor="ctr"/>
            <a:lstStyle/>
            <a:p>
              <a:pPr algn="ctr">
                <a:buFont typeface="Arial" panose="020B0604020202020204" pitchFamily="34" charset="0"/>
                <a:buNone/>
              </a:pPr>
              <a:endParaRPr lang="zh-CN" altLang="zh-CN">
                <a:solidFill>
                  <a:srgbClr val="FFFFFF"/>
                </a:solidFill>
                <a:latin typeface="宋体" panose="02010600030101010101" pitchFamily="2" charset="-122"/>
                <a:sym typeface="宋体" panose="02010600030101010101" pitchFamily="2" charset="-122"/>
              </a:endParaRPr>
            </a:p>
          </p:txBody>
        </p:sp>
        <p:sp>
          <p:nvSpPr>
            <p:cNvPr id="2053" name="直接连接符 15"/>
            <p:cNvSpPr>
              <a:spLocks noChangeAspect="1" noChangeShapeType="1"/>
            </p:cNvSpPr>
            <p:nvPr/>
          </p:nvSpPr>
          <p:spPr bwMode="auto">
            <a:xfrm flipH="1">
              <a:off x="14531" y="535"/>
              <a:ext cx="4767" cy="4844"/>
            </a:xfrm>
            <a:prstGeom prst="line">
              <a:avLst/>
            </a:prstGeom>
            <a:noFill/>
            <a:ln w="6350">
              <a:solidFill>
                <a:srgbClr val="F2F2F2">
                  <a:alpha val="69019"/>
                </a:srgb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4" name="直接连接符 16"/>
            <p:cNvSpPr>
              <a:spLocks noChangeAspect="1" noChangeShapeType="1"/>
            </p:cNvSpPr>
            <p:nvPr/>
          </p:nvSpPr>
          <p:spPr bwMode="auto">
            <a:xfrm>
              <a:off x="14545" y="5382"/>
              <a:ext cx="4767" cy="4844"/>
            </a:xfrm>
            <a:prstGeom prst="line">
              <a:avLst/>
            </a:prstGeom>
            <a:noFill/>
            <a:ln w="6350">
              <a:solidFill>
                <a:srgbClr val="F2F2F2">
                  <a:alpha val="69019"/>
                </a:srgb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9" name="直接连接符 22"/>
            <p:cNvSpPr>
              <a:spLocks noChangeAspect="1" noChangeShapeType="1"/>
            </p:cNvSpPr>
            <p:nvPr/>
          </p:nvSpPr>
          <p:spPr bwMode="auto">
            <a:xfrm rot="16200000" flipH="1">
              <a:off x="8327" y="-54"/>
              <a:ext cx="5385" cy="5468"/>
            </a:xfrm>
            <a:prstGeom prst="line">
              <a:avLst/>
            </a:prstGeom>
            <a:noFill/>
            <a:ln w="6350">
              <a:solidFill>
                <a:schemeClr val="bg2">
                  <a:lumMod val="85000"/>
                </a:scheme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0" name="直接连接符 23"/>
            <p:cNvSpPr>
              <a:spLocks noChangeAspect="1" noChangeShapeType="1"/>
            </p:cNvSpPr>
            <p:nvPr/>
          </p:nvSpPr>
          <p:spPr bwMode="auto">
            <a:xfrm rot="16200000" flipH="1">
              <a:off x="8038" y="-53"/>
              <a:ext cx="5383" cy="5470"/>
            </a:xfrm>
            <a:prstGeom prst="line">
              <a:avLst/>
            </a:prstGeom>
            <a:noFill/>
            <a:ln w="6350">
              <a:solidFill>
                <a:srgbClr val="1C4F90"/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1" name="直接连接符 24"/>
            <p:cNvSpPr>
              <a:spLocks noChangeAspect="1" noChangeShapeType="1"/>
            </p:cNvSpPr>
            <p:nvPr/>
          </p:nvSpPr>
          <p:spPr bwMode="auto">
            <a:xfrm rot="5400000">
              <a:off x="8166" y="5328"/>
              <a:ext cx="5539" cy="5625"/>
            </a:xfrm>
            <a:prstGeom prst="line">
              <a:avLst/>
            </a:prstGeom>
            <a:noFill/>
            <a:ln w="6350">
              <a:solidFill>
                <a:schemeClr val="bg2">
                  <a:lumMod val="85000"/>
                </a:scheme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2" name="直接连接符 25"/>
            <p:cNvSpPr>
              <a:spLocks noChangeAspect="1" noChangeShapeType="1"/>
            </p:cNvSpPr>
            <p:nvPr/>
          </p:nvSpPr>
          <p:spPr bwMode="auto">
            <a:xfrm rot="5400000">
              <a:off x="7933" y="5328"/>
              <a:ext cx="5500" cy="5588"/>
            </a:xfrm>
            <a:prstGeom prst="line">
              <a:avLst/>
            </a:prstGeom>
            <a:noFill/>
            <a:ln w="6350">
              <a:solidFill>
                <a:srgbClr val="1C4F90"/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" name="图片 3" descr="千库网_大学校园教室_摄影图编号49875"/>
            <p:cNvPicPr>
              <a:picLocks noChangeAspect="1"/>
            </p:cNvPicPr>
            <p:nvPr/>
          </p:nvPicPr>
          <p:blipFill>
            <a:blip r:embed="rId2" cstate="email"/>
            <a:srcRect/>
            <a:stretch>
              <a:fillRect/>
            </a:stretch>
          </p:blipFill>
          <p:spPr>
            <a:xfrm>
              <a:off x="8876" y="5560"/>
              <a:ext cx="10306" cy="5243"/>
            </a:xfrm>
            <a:prstGeom prst="triangle">
              <a:avLst>
                <a:gd name="adj" fmla="val 50005"/>
              </a:avLst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3" cstate="email"/>
            <a:srcRect/>
            <a:stretch>
              <a:fillRect/>
            </a:stretch>
          </p:blipFill>
          <p:spPr>
            <a:xfrm flipV="1">
              <a:off x="8675" y="0"/>
              <a:ext cx="10531" cy="5370"/>
            </a:xfrm>
            <a:prstGeom prst="triangle">
              <a:avLst>
                <a:gd name="adj" fmla="val 50356"/>
              </a:avLst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242" y="878"/>
              <a:ext cx="823" cy="823"/>
              <a:chOff x="1302" y="998"/>
              <a:chExt cx="1982" cy="1982"/>
            </a:xfrm>
          </p:grpSpPr>
          <p:sp>
            <p:nvSpPr>
              <p:cNvPr id="9" name="Oval 2287"/>
              <p:cNvSpPr/>
              <p:nvPr/>
            </p:nvSpPr>
            <p:spPr>
              <a:xfrm>
                <a:off x="1302" y="998"/>
                <a:ext cx="1982" cy="1982"/>
              </a:xfrm>
              <a:prstGeom prst="ellipse">
                <a:avLst/>
              </a:prstGeom>
              <a:gradFill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2700000" scaled="1"/>
              </a:gradFill>
              <a:ln w="15875"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63500" dist="25400" dir="2700000" algn="tl" rotWithShape="0">
                  <a:schemeClr val="tx1">
                    <a:lumMod val="50000"/>
                    <a:lumOff val="50000"/>
                    <a:alpha val="3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思源宋体" panose="02020400000000000000" charset="-122"/>
                </a:endParaRPr>
              </a:p>
            </p:txBody>
          </p:sp>
          <p:sp>
            <p:nvSpPr>
              <p:cNvPr id="25" name="Oval 2287"/>
              <p:cNvSpPr/>
              <p:nvPr/>
            </p:nvSpPr>
            <p:spPr>
              <a:xfrm>
                <a:off x="1435" y="1130"/>
                <a:ext cx="1717" cy="1717"/>
              </a:xfrm>
              <a:prstGeom prst="ellipse">
                <a:avLst/>
              </a:prstGeom>
              <a:solidFill>
                <a:srgbClr val="1C4F90"/>
              </a:solidFill>
              <a:ln w="15875"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63500" dist="25400" dir="2700000" algn="tl" rotWithShape="0">
                  <a:schemeClr val="tx1">
                    <a:lumMod val="50000"/>
                    <a:lumOff val="50000"/>
                    <a:alpha val="3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思源宋体" panose="02020400000000000000" charset="-122"/>
                </a:endParaRPr>
              </a:p>
            </p:txBody>
          </p:sp>
          <p:pic>
            <p:nvPicPr>
              <p:cNvPr id="10" name="图片 9" descr="343435383036383b343533323532303bb1cfd2b5d4bad0a3"/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729" y="1449"/>
                <a:ext cx="1050" cy="1050"/>
              </a:xfrm>
              <a:prstGeom prst="rect">
                <a:avLst/>
              </a:prstGeom>
            </p:spPr>
          </p:pic>
        </p:grpSp>
        <p:grpSp>
          <p:nvGrpSpPr>
            <p:cNvPr id="13" name="组合 12"/>
            <p:cNvGrpSpPr/>
            <p:nvPr/>
          </p:nvGrpSpPr>
          <p:grpSpPr>
            <a:xfrm>
              <a:off x="1002" y="2445"/>
              <a:ext cx="10069" cy="4670"/>
              <a:chOff x="982" y="2506"/>
              <a:chExt cx="10069" cy="4670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982" y="2506"/>
                <a:ext cx="8633" cy="3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6000" b="1" dirty="0">
                    <a:solidFill>
                      <a:srgbClr val="1C4F90"/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移动应用测试</a:t>
                </a:r>
                <a:endParaRPr lang="en-US" altLang="zh-CN" sz="6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  <a:p>
                <a:pPr algn="l"/>
                <a:r>
                  <a:rPr lang="en-US" altLang="zh-CN" sz="6000" b="1" dirty="0">
                    <a:solidFill>
                      <a:srgbClr val="1C4F90"/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Fossify Calculator-Test</a:t>
                </a:r>
                <a:endParaRPr lang="en-US" altLang="zh-CN" sz="6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28" name="文本框 27"/>
              <p:cNvSpPr txBox="1"/>
              <p:nvPr userDrawn="1"/>
            </p:nvSpPr>
            <p:spPr>
              <a:xfrm>
                <a:off x="1162" y="5477"/>
                <a:ext cx="9889" cy="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endParaRPr lang="en-US" altLang="zh-CN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  <a:sym typeface="+mn-ea"/>
                </a:endParaRPr>
              </a:p>
            </p:txBody>
          </p:sp>
          <p:sp>
            <p:nvSpPr>
              <p:cNvPr id="29" name="文本框 28"/>
              <p:cNvSpPr txBox="1"/>
              <p:nvPr userDrawn="1">
                <p:custDataLst>
                  <p:tags r:id="rId6"/>
                </p:custDataLst>
              </p:nvPr>
            </p:nvSpPr>
            <p:spPr>
              <a:xfrm>
                <a:off x="1320" y="6168"/>
                <a:ext cx="5269" cy="1008"/>
              </a:xfrm>
              <a:prstGeom prst="roundRect">
                <a:avLst/>
              </a:prstGeom>
              <a:solidFill>
                <a:srgbClr val="1C4F90"/>
              </a:solidFill>
            </p:spPr>
            <p:txBody>
              <a:bodyPr wrap="square" rtlCol="0">
                <a:noAutofit/>
              </a:bodyPr>
              <a:lstStyle/>
              <a:p>
                <a:pPr algn="dist"/>
                <a:endParaRPr lang="zh-CN" altLang="en-US" sz="1400" b="1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</a:endParaRPr>
              </a:p>
            </p:txBody>
          </p:sp>
        </p:grpSp>
        <p:sp>
          <p:nvSpPr>
            <p:cNvPr id="23" name="文本框 22"/>
            <p:cNvSpPr txBox="1"/>
            <p:nvPr/>
          </p:nvSpPr>
          <p:spPr>
            <a:xfrm>
              <a:off x="2211" y="1048"/>
              <a:ext cx="286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400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大连理工大学</a:t>
              </a:r>
              <a:endParaRPr lang="zh-CN" altLang="en-US" sz="1400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14" name="直角三角形 13"/>
            <p:cNvSpPr/>
            <p:nvPr/>
          </p:nvSpPr>
          <p:spPr>
            <a:xfrm>
              <a:off x="0" y="9777"/>
              <a:ext cx="1241" cy="1023"/>
            </a:xfrm>
            <a:prstGeom prst="rtTriangle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直角三角形 14"/>
            <p:cNvSpPr/>
            <p:nvPr/>
          </p:nvSpPr>
          <p:spPr>
            <a:xfrm flipV="1">
              <a:off x="0" y="-12"/>
              <a:ext cx="1241" cy="1023"/>
            </a:xfrm>
            <a:prstGeom prst="rtTriangle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993" y="1620"/>
              <a:ext cx="1163" cy="751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3600" dirty="0">
                  <a:solidFill>
                    <a:schemeClr val="bg2">
                      <a:lumMod val="85000"/>
                      <a:alpha val="12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REPLY TO REPORT</a:t>
              </a:r>
              <a:endParaRPr lang="zh-CN" altLang="en-US" sz="3600" dirty="0">
                <a:solidFill>
                  <a:schemeClr val="bg2">
                    <a:lumMod val="85000"/>
                    <a:alpha val="12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  <p:sp>
        <p:nvSpPr>
          <p:cNvPr id="5" name="文本框 4"/>
          <p:cNvSpPr txBox="1"/>
          <p:nvPr>
            <p:custDataLst>
              <p:tags r:id="rId7"/>
            </p:custDataLst>
          </p:nvPr>
        </p:nvSpPr>
        <p:spPr>
          <a:xfrm>
            <a:off x="1012825" y="39979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2"/>
                </a:solidFill>
                <a:effectLst/>
              </a:rPr>
              <a:t> </a:t>
            </a:r>
            <a:r>
              <a:rPr lang="zh-CN" altLang="en-US">
                <a:solidFill>
                  <a:schemeClr val="bg2"/>
                </a:solidFill>
                <a:effectLst/>
              </a:rPr>
              <a:t>答辩人</a:t>
            </a:r>
            <a:r>
              <a:rPr lang="en-US" altLang="zh-CN">
                <a:solidFill>
                  <a:schemeClr val="bg2"/>
                </a:solidFill>
                <a:effectLst/>
              </a:rPr>
              <a:t>  </a:t>
            </a:r>
            <a:r>
              <a:rPr lang="zh-CN" altLang="en-US">
                <a:solidFill>
                  <a:schemeClr val="bg2"/>
                </a:solidFill>
                <a:effectLst/>
              </a:rPr>
              <a:t>黄开为</a:t>
            </a:r>
            <a:endParaRPr lang="zh-CN" altLang="en-US">
              <a:solidFill>
                <a:schemeClr val="bg2"/>
              </a:solidFill>
              <a:effectLst/>
            </a:endParaRPr>
          </a:p>
        </p:txBody>
      </p:sp>
      <p:sp>
        <p:nvSpPr>
          <p:cNvPr id="12" name="文本框 11"/>
          <p:cNvSpPr txBox="1"/>
          <p:nvPr userDrawn="1">
            <p:custDataLst>
              <p:tags r:id="rId8"/>
            </p:custDataLst>
          </p:nvPr>
        </p:nvSpPr>
        <p:spPr>
          <a:xfrm>
            <a:off x="823595" y="4580255"/>
            <a:ext cx="3345815" cy="640080"/>
          </a:xfrm>
          <a:prstGeom prst="roundRect">
            <a:avLst/>
          </a:prstGeom>
          <a:solidFill>
            <a:srgbClr val="1C4F90"/>
          </a:solidFill>
        </p:spPr>
        <p:txBody>
          <a:bodyPr wrap="square" rtlCol="0">
            <a:noAutofit/>
          </a:bodyPr>
          <a:lstStyle/>
          <a:p>
            <a:pPr algn="dist"/>
            <a:endParaRPr lang="zh-CN" altLang="en-US" sz="1400" b="1" dirty="0">
              <a:solidFill>
                <a:schemeClr val="bg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思源宋体" panose="02020400000000000000" charset="-122"/>
            </a:endParaRPr>
          </a:p>
        </p:txBody>
      </p:sp>
      <p:sp>
        <p:nvSpPr>
          <p:cNvPr id="17" name="文本框 16"/>
          <p:cNvSpPr txBox="1"/>
          <p:nvPr userDrawn="1">
            <p:custDataLst>
              <p:tags r:id="rId9"/>
            </p:custDataLst>
          </p:nvPr>
        </p:nvSpPr>
        <p:spPr>
          <a:xfrm>
            <a:off x="823595" y="5282565"/>
            <a:ext cx="3345815" cy="640080"/>
          </a:xfrm>
          <a:prstGeom prst="roundRect">
            <a:avLst/>
          </a:prstGeom>
          <a:solidFill>
            <a:srgbClr val="1C4F90"/>
          </a:solidFill>
        </p:spPr>
        <p:txBody>
          <a:bodyPr wrap="square" rtlCol="0">
            <a:noAutofit/>
          </a:bodyPr>
          <a:lstStyle/>
          <a:p>
            <a:pPr algn="dist"/>
            <a:endParaRPr lang="zh-CN" altLang="en-US" sz="1400" b="1" dirty="0">
              <a:solidFill>
                <a:schemeClr val="bg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思源宋体" panose="02020400000000000000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1012825" y="47491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2"/>
                </a:solidFill>
                <a:effectLst/>
              </a:rPr>
              <a:t>课程</a:t>
            </a:r>
            <a:r>
              <a:rPr lang="en-US" altLang="zh-CN">
                <a:solidFill>
                  <a:schemeClr val="bg2"/>
                </a:solidFill>
                <a:effectLst/>
              </a:rPr>
              <a:t> </a:t>
            </a:r>
            <a:r>
              <a:rPr lang="zh-CN" altLang="en-US">
                <a:solidFill>
                  <a:schemeClr val="bg2"/>
                </a:solidFill>
                <a:effectLst/>
              </a:rPr>
              <a:t>移动应用测试</a:t>
            </a:r>
            <a:endParaRPr lang="zh-CN" altLang="en-US">
              <a:solidFill>
                <a:schemeClr val="bg2"/>
              </a:solidFill>
              <a:effectLst/>
            </a:endParaRPr>
          </a:p>
        </p:txBody>
      </p:sp>
      <p:sp>
        <p:nvSpPr>
          <p:cNvPr id="20" name="文本框 19"/>
          <p:cNvSpPr txBox="1"/>
          <p:nvPr>
            <p:custDataLst>
              <p:tags r:id="rId11"/>
            </p:custDataLst>
          </p:nvPr>
        </p:nvSpPr>
        <p:spPr>
          <a:xfrm>
            <a:off x="1012825" y="54114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2"/>
                </a:solidFill>
                <a:effectLst/>
              </a:rPr>
              <a:t>指导老师</a:t>
            </a:r>
            <a:r>
              <a:rPr lang="en-US" altLang="zh-CN">
                <a:solidFill>
                  <a:schemeClr val="bg2"/>
                </a:solidFill>
                <a:effectLst/>
              </a:rPr>
              <a:t> </a:t>
            </a:r>
            <a:r>
              <a:rPr lang="zh-CN" altLang="en-US">
                <a:solidFill>
                  <a:schemeClr val="bg2"/>
                </a:solidFill>
                <a:effectLst/>
              </a:rPr>
              <a:t>胡燕</a:t>
            </a:r>
            <a:endParaRPr lang="zh-CN" altLang="en-US">
              <a:solidFill>
                <a:schemeClr val="bg2"/>
              </a:solidFill>
              <a:effectLst/>
            </a:endParaRPr>
          </a:p>
        </p:txBody>
      </p:sp>
      <p:sp>
        <p:nvSpPr>
          <p:cNvPr id="22" name="文本框 21"/>
          <p:cNvSpPr txBox="1"/>
          <p:nvPr userDrawn="1">
            <p:custDataLst>
              <p:tags r:id="rId12"/>
            </p:custDataLst>
          </p:nvPr>
        </p:nvSpPr>
        <p:spPr>
          <a:xfrm>
            <a:off x="823595" y="6040755"/>
            <a:ext cx="3345815" cy="640080"/>
          </a:xfrm>
          <a:prstGeom prst="roundRect">
            <a:avLst/>
          </a:prstGeom>
          <a:solidFill>
            <a:srgbClr val="1C4F90"/>
          </a:solidFill>
        </p:spPr>
        <p:txBody>
          <a:bodyPr wrap="square" rtlCol="0">
            <a:noAutofit/>
          </a:bodyPr>
          <a:lstStyle/>
          <a:p>
            <a:pPr algn="dist"/>
            <a:endParaRPr lang="zh-CN" altLang="en-US" sz="1400" b="1" dirty="0">
              <a:solidFill>
                <a:schemeClr val="bg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思源宋体" panose="02020400000000000000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13"/>
            </p:custDataLst>
          </p:nvPr>
        </p:nvSpPr>
        <p:spPr>
          <a:xfrm>
            <a:off x="1094105" y="61779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2"/>
                </a:solidFill>
                <a:effectLst/>
              </a:rPr>
              <a:t>日期</a:t>
            </a:r>
            <a:r>
              <a:rPr lang="en-US" altLang="zh-CN">
                <a:solidFill>
                  <a:schemeClr val="bg2"/>
                </a:solidFill>
                <a:effectLst/>
              </a:rPr>
              <a:t>：2026/6/18</a:t>
            </a:r>
            <a:endParaRPr lang="en-US" altLang="zh-CN">
              <a:solidFill>
                <a:schemeClr val="bg2"/>
              </a:solidFill>
              <a:effectLst/>
            </a:endParaRPr>
          </a:p>
        </p:txBody>
      </p:sp>
    </p:spTree>
    <p:custDataLst>
      <p:tags r:id="rId14"/>
    </p:custDataLst>
  </p:cSld>
  <p:clrMapOvr>
    <a:masterClrMapping/>
  </p:clrMapOvr>
  <p:transition advTm="2000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-136525" y="118110"/>
            <a:ext cx="12555855" cy="6739890"/>
            <a:chOff x="-215" y="186"/>
            <a:chExt cx="19773" cy="10614"/>
          </a:xfrm>
        </p:grpSpPr>
        <p:sp>
          <p:nvSpPr>
            <p:cNvPr id="15" name="文本框 14"/>
            <p:cNvSpPr txBox="1"/>
            <p:nvPr/>
          </p:nvSpPr>
          <p:spPr>
            <a:xfrm>
              <a:off x="1534" y="1395"/>
              <a:ext cx="4423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48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目录标题</a:t>
              </a:r>
              <a:endParaRPr lang="zh-CN" altLang="en-US" sz="48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49" y="2570"/>
              <a:ext cx="4037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1400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DIRECTORY TITLE</a:t>
              </a:r>
              <a:endParaRPr lang="zh-CN" altLang="en-US" sz="1400" dirty="0">
                <a:solidFill>
                  <a:srgbClr val="264D88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74" name="矩形: 圆角 73"/>
            <p:cNvSpPr/>
            <p:nvPr>
              <p:custDataLst>
                <p:tags r:id="rId2"/>
              </p:custDataLst>
            </p:nvPr>
          </p:nvSpPr>
          <p:spPr>
            <a:xfrm>
              <a:off x="1848" y="3856"/>
              <a:ext cx="3677" cy="4749"/>
            </a:xfrm>
            <a:prstGeom prst="roundRect">
              <a:avLst>
                <a:gd name="adj" fmla="val 2749"/>
              </a:avLst>
            </a:prstGeom>
            <a:solidFill>
              <a:schemeClr val="bg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5" name="矩形: 圆角 74"/>
            <p:cNvSpPr/>
            <p:nvPr>
              <p:custDataLst>
                <p:tags r:id="rId3"/>
              </p:custDataLst>
            </p:nvPr>
          </p:nvSpPr>
          <p:spPr>
            <a:xfrm>
              <a:off x="6103" y="3856"/>
              <a:ext cx="3677" cy="4749"/>
            </a:xfrm>
            <a:prstGeom prst="roundRect">
              <a:avLst>
                <a:gd name="adj" fmla="val 2749"/>
              </a:avLst>
            </a:prstGeom>
            <a:solidFill>
              <a:schemeClr val="bg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6" name="矩形: 圆角 75"/>
            <p:cNvSpPr/>
            <p:nvPr>
              <p:custDataLst>
                <p:tags r:id="rId4"/>
              </p:custDataLst>
            </p:nvPr>
          </p:nvSpPr>
          <p:spPr>
            <a:xfrm>
              <a:off x="10357" y="3856"/>
              <a:ext cx="3677" cy="4749"/>
            </a:xfrm>
            <a:prstGeom prst="roundRect">
              <a:avLst>
                <a:gd name="adj" fmla="val 2749"/>
              </a:avLst>
            </a:prstGeom>
            <a:solidFill>
              <a:schemeClr val="bg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7" name="矩形: 圆角 76"/>
            <p:cNvSpPr/>
            <p:nvPr>
              <p:custDataLst>
                <p:tags r:id="rId5"/>
              </p:custDataLst>
            </p:nvPr>
          </p:nvSpPr>
          <p:spPr>
            <a:xfrm>
              <a:off x="14612" y="3856"/>
              <a:ext cx="3677" cy="4749"/>
            </a:xfrm>
            <a:prstGeom prst="roundRect">
              <a:avLst>
                <a:gd name="adj" fmla="val 2749"/>
              </a:avLst>
            </a:prstGeom>
            <a:solidFill>
              <a:schemeClr val="bg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8" name="矩形 77"/>
            <p:cNvSpPr/>
            <p:nvPr>
              <p:custDataLst>
                <p:tags r:id="rId6"/>
              </p:custDataLst>
            </p:nvPr>
          </p:nvSpPr>
          <p:spPr>
            <a:xfrm>
              <a:off x="1848" y="4407"/>
              <a:ext cx="3692" cy="815"/>
            </a:xfrm>
            <a:prstGeom prst="rect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2000" b="1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Aharoni" panose="02010803020104030203" pitchFamily="2" charset="-79"/>
                </a:rPr>
                <a:t>PART 01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Aharoni" panose="02010803020104030203" pitchFamily="2" charset="-79"/>
              </a:endParaRPr>
            </a:p>
          </p:txBody>
        </p:sp>
        <p:sp>
          <p:nvSpPr>
            <p:cNvPr id="20" name="矩形 19"/>
            <p:cNvSpPr/>
            <p:nvPr>
              <p:custDataLst>
                <p:tags r:id="rId7"/>
              </p:custDataLst>
            </p:nvPr>
          </p:nvSpPr>
          <p:spPr>
            <a:xfrm>
              <a:off x="6103" y="4407"/>
              <a:ext cx="3692" cy="815"/>
            </a:xfrm>
            <a:prstGeom prst="rect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2000" b="1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Aharoni" panose="02010803020104030203" pitchFamily="2" charset="-79"/>
                  <a:sym typeface="+mn-ea"/>
                </a:rPr>
                <a:t>PART 02</a:t>
              </a:r>
              <a:endParaRPr lang="en-US" altLang="zh-CN" sz="2000" b="1" dirty="0">
                <a:solidFill>
                  <a:prstClr val="whit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haroni" panose="02010803020104030203" pitchFamily="2" charset="-79"/>
                <a:sym typeface="+mn-ea"/>
              </a:endParaRPr>
            </a:p>
          </p:txBody>
        </p:sp>
        <p:sp>
          <p:nvSpPr>
            <p:cNvPr id="89" name="矩形 88"/>
            <p:cNvSpPr/>
            <p:nvPr>
              <p:custDataLst>
                <p:tags r:id="rId8"/>
              </p:custDataLst>
            </p:nvPr>
          </p:nvSpPr>
          <p:spPr>
            <a:xfrm>
              <a:off x="10358" y="4407"/>
              <a:ext cx="3692" cy="815"/>
            </a:xfrm>
            <a:prstGeom prst="rect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2000" b="1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Aharoni" panose="02010803020104030203" pitchFamily="2" charset="-79"/>
                  <a:sym typeface="+mn-ea"/>
                </a:rPr>
                <a:t>PART 03</a:t>
              </a:r>
              <a:endParaRPr lang="en-US" altLang="zh-CN" sz="2000" b="1" dirty="0">
                <a:solidFill>
                  <a:prstClr val="whit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haroni" panose="02010803020104030203" pitchFamily="2" charset="-79"/>
                <a:sym typeface="+mn-ea"/>
              </a:endParaRPr>
            </a:p>
          </p:txBody>
        </p:sp>
        <p:sp>
          <p:nvSpPr>
            <p:cNvPr id="95" name="矩形 94"/>
            <p:cNvSpPr/>
            <p:nvPr>
              <p:custDataLst>
                <p:tags r:id="rId9"/>
              </p:custDataLst>
            </p:nvPr>
          </p:nvSpPr>
          <p:spPr>
            <a:xfrm>
              <a:off x="14612" y="4407"/>
              <a:ext cx="3692" cy="815"/>
            </a:xfrm>
            <a:prstGeom prst="rect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altLang="zh-CN" sz="2000" b="1" dirty="0">
                  <a:solidFill>
                    <a:prstClr val="white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Aharoni" panose="02010803020104030203" pitchFamily="2" charset="-79"/>
                  <a:sym typeface="+mn-ea"/>
                </a:rPr>
                <a:t>PART 04</a:t>
              </a:r>
              <a:endParaRPr lang="en-US" altLang="zh-CN" sz="2000" b="1" dirty="0">
                <a:solidFill>
                  <a:prstClr val="white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haroni" panose="02010803020104030203" pitchFamily="2" charset="-79"/>
                <a:sym typeface="+mn-ea"/>
              </a:endParaRPr>
            </a:p>
          </p:txBody>
        </p:sp>
        <p:sp>
          <p:nvSpPr>
            <p:cNvPr id="53" name="文本框 52"/>
            <p:cNvSpPr txBox="1"/>
            <p:nvPr>
              <p:custDataLst>
                <p:tags r:id="rId10"/>
              </p:custDataLst>
            </p:nvPr>
          </p:nvSpPr>
          <p:spPr>
            <a:xfrm>
              <a:off x="1931" y="5572"/>
              <a:ext cx="3334" cy="9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b="1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1.</a:t>
              </a:r>
              <a:r>
                <a:rPr lang="zh-CN" altLang="en-US" sz="3200" b="1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项目背景</a:t>
              </a:r>
              <a:endParaRPr lang="zh-CN" altLang="en-US" sz="3200" b="1" dirty="0">
                <a:solidFill>
                  <a:srgbClr val="264D88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901" y="6513"/>
              <a:ext cx="3586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en-US" altLang="zh-CN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思源宋体" panose="02020400000000000000" charset="-122"/>
                <a:sym typeface="+mn-ea"/>
              </a:endParaRPr>
            </a:p>
          </p:txBody>
        </p:sp>
        <p:sp>
          <p:nvSpPr>
            <p:cNvPr id="55" name="文本框 54"/>
            <p:cNvSpPr txBox="1"/>
            <p:nvPr>
              <p:custDataLst>
                <p:tags r:id="rId11"/>
              </p:custDataLst>
            </p:nvPr>
          </p:nvSpPr>
          <p:spPr>
            <a:xfrm>
              <a:off x="6262" y="5222"/>
              <a:ext cx="3334" cy="16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2.</a:t>
              </a:r>
              <a:r>
                <a:rPr lang="zh-CN" altLang="en-US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单元测试</a:t>
              </a:r>
              <a:endParaRPr lang="zh-CN" altLang="en-US" sz="32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  <a:p>
              <a:pPr algn="l"/>
              <a:r>
                <a:rPr lang="zh-CN" altLang="en-US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集成测试</a:t>
              </a:r>
              <a:endParaRPr lang="zh-CN" altLang="en-US" sz="32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6179" y="6618"/>
              <a:ext cx="3586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10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</a:defRPr>
              </a:lvl1pPr>
            </a:lstStyle>
            <a:p>
              <a:endParaRPr lang="en-US" altLang="zh-CN" dirty="0">
                <a:sym typeface="+mn-ea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2"/>
              </p:custDataLst>
            </p:nvPr>
          </p:nvSpPr>
          <p:spPr>
            <a:xfrm>
              <a:off x="10780" y="5361"/>
              <a:ext cx="2220" cy="16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3.</a:t>
              </a:r>
              <a:r>
                <a:rPr lang="zh-CN" altLang="en-US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测试</a:t>
              </a:r>
              <a:endParaRPr lang="zh-CN" altLang="en-US" sz="32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  <a:p>
              <a:pPr algn="l"/>
              <a:r>
                <a:rPr lang="zh-CN" altLang="en-US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覆盖率</a:t>
              </a:r>
              <a:endParaRPr lang="zh-CN" altLang="en-US" sz="32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72" y="6513"/>
              <a:ext cx="3586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10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</a:defRPr>
              </a:lvl1pPr>
            </a:lstStyle>
            <a:p>
              <a:endParaRPr lang="en-US" altLang="zh-CN" dirty="0">
                <a:sym typeface="+mn-ea"/>
              </a:endParaRPr>
            </a:p>
          </p:txBody>
        </p:sp>
        <p:sp>
          <p:nvSpPr>
            <p:cNvPr id="59" name="文本框 58"/>
            <p:cNvSpPr txBox="1"/>
            <p:nvPr>
              <p:custDataLst>
                <p:tags r:id="rId13"/>
              </p:custDataLst>
            </p:nvPr>
          </p:nvSpPr>
          <p:spPr>
            <a:xfrm>
              <a:off x="14782" y="5361"/>
              <a:ext cx="3506" cy="9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4.</a:t>
              </a:r>
              <a:r>
                <a:rPr lang="zh-CN" altLang="en-US" sz="32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系统测试</a:t>
              </a:r>
              <a:endParaRPr lang="zh-CN" altLang="en-US" sz="32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4626" y="6513"/>
              <a:ext cx="3586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10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</a:defRPr>
              </a:lvl1pPr>
            </a:lstStyle>
            <a:p>
              <a:endParaRPr lang="en-US" altLang="zh-CN" dirty="0">
                <a:sym typeface="+mn-ea"/>
              </a:endParaRPr>
            </a:p>
          </p:txBody>
        </p:sp>
        <p:grpSp>
          <p:nvGrpSpPr>
            <p:cNvPr id="6" name="组合 5"/>
            <p:cNvGrpSpPr/>
            <p:nvPr/>
          </p:nvGrpSpPr>
          <p:grpSpPr>
            <a:xfrm flipH="1" flipV="1">
              <a:off x="16994" y="8578"/>
              <a:ext cx="2564" cy="2222"/>
              <a:chOff x="-249" y="-12"/>
              <a:chExt cx="1780" cy="1542"/>
            </a:xfrm>
          </p:grpSpPr>
          <p:sp>
            <p:nvSpPr>
              <p:cNvPr id="4" name="直角三角形 3"/>
              <p:cNvSpPr/>
              <p:nvPr/>
            </p:nvSpPr>
            <p:spPr>
              <a:xfrm flipV="1">
                <a:off x="0" y="-12"/>
                <a:ext cx="1241" cy="1023"/>
              </a:xfrm>
              <a:prstGeom prst="rt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直角三角形 4"/>
              <p:cNvSpPr/>
              <p:nvPr/>
            </p:nvSpPr>
            <p:spPr>
              <a:xfrm flipV="1">
                <a:off x="-249" y="148"/>
                <a:ext cx="1780" cy="1383"/>
              </a:xfrm>
              <a:prstGeom prst="rtTriangle">
                <a:avLst/>
              </a:prstGeom>
              <a:noFill/>
              <a:ln>
                <a:solidFill>
                  <a:srgbClr val="DCDCDC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1C4F90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-215" y="186"/>
              <a:ext cx="2564" cy="2222"/>
              <a:chOff x="-249" y="-12"/>
              <a:chExt cx="1780" cy="1542"/>
            </a:xfrm>
          </p:grpSpPr>
          <p:sp>
            <p:nvSpPr>
              <p:cNvPr id="8" name="直角三角形 7"/>
              <p:cNvSpPr/>
              <p:nvPr/>
            </p:nvSpPr>
            <p:spPr>
              <a:xfrm flipV="1">
                <a:off x="0" y="-12"/>
                <a:ext cx="1241" cy="1023"/>
              </a:xfrm>
              <a:prstGeom prst="rt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flipV="1">
                <a:off x="-249" y="148"/>
                <a:ext cx="1780" cy="1383"/>
              </a:xfrm>
              <a:prstGeom prst="rtTriangle">
                <a:avLst/>
              </a:prstGeom>
              <a:noFill/>
              <a:ln>
                <a:solidFill>
                  <a:srgbClr val="DCDCDC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1C4F90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9" name="TextBox 9"/>
          <p:cNvSpPr txBox="1"/>
          <p:nvPr/>
        </p:nvSpPr>
        <p:spPr>
          <a:xfrm>
            <a:off x="0" y="16363"/>
            <a:ext cx="453651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noFill/>
                <a:latin typeface="微软雅黑" panose="020B0503020204020204" pitchFamily="34" charset="-122"/>
              </a:rPr>
              <a:t>PPT</a:t>
            </a:r>
            <a:r>
              <a:rPr lang="zh-CN" altLang="en-US" sz="100" dirty="0">
                <a:noFill/>
                <a:latin typeface="微软雅黑" panose="020B0503020204020204" pitchFamily="34" charset="-122"/>
              </a:rPr>
              <a:t>下载 </a:t>
            </a:r>
            <a:r>
              <a:rPr lang="en-US" altLang="zh-CN" sz="100" dirty="0">
                <a:noFill/>
                <a:latin typeface="微软雅黑" panose="020B0503020204020204" pitchFamily="34" charset="-122"/>
              </a:rPr>
              <a:t>http://www.1ppt.com/xiazai/</a:t>
            </a:r>
            <a:endParaRPr lang="en-US" altLang="zh-CN" sz="100" dirty="0">
              <a:noFill/>
              <a:latin typeface="微软雅黑" panose="020B0503020204020204" pitchFamily="34" charset="-122"/>
            </a:endParaRPr>
          </a:p>
        </p:txBody>
      </p:sp>
    </p:spTree>
    <p:custDataLst>
      <p:tags r:id="rId14"/>
    </p:custDataLst>
  </p:cSld>
  <p:clrMapOvr>
    <a:masterClrMapping/>
  </p:clrMapOvr>
  <p:transition advTm="2000">
    <p:wheel spokes="2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>
            <a:off x="-1246505" y="-1269365"/>
            <a:ext cx="4191000" cy="2555240"/>
            <a:chOff x="-1277" y="-1319"/>
            <a:chExt cx="4304" cy="2624"/>
          </a:xfrm>
        </p:grpSpPr>
        <p:sp>
          <p:nvSpPr>
            <p:cNvPr id="3" name="直角三角形 2"/>
            <p:cNvSpPr/>
            <p:nvPr/>
          </p:nvSpPr>
          <p:spPr>
            <a:xfrm rot="2700000" flipH="1">
              <a:off x="-1277" y="-1319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30" name="直角三角形 29"/>
            <p:cNvSpPr/>
            <p:nvPr/>
          </p:nvSpPr>
          <p:spPr>
            <a:xfrm rot="2700000" flipH="1">
              <a:off x="403" y="-1319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2724785" y="991235"/>
            <a:ext cx="6743065" cy="4230370"/>
            <a:chOff x="4291" y="1561"/>
            <a:chExt cx="10619" cy="6662"/>
          </a:xfrm>
        </p:grpSpPr>
        <p:sp>
          <p:nvSpPr>
            <p:cNvPr id="34" name="文本框 33"/>
            <p:cNvSpPr txBox="1"/>
            <p:nvPr/>
          </p:nvSpPr>
          <p:spPr>
            <a:xfrm>
              <a:off x="4291" y="4202"/>
              <a:ext cx="10486" cy="40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000" b="1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一</a:t>
              </a:r>
              <a:r>
                <a:rPr lang="en-US" altLang="zh-CN" sz="8000" b="1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、</a:t>
              </a:r>
              <a:r>
                <a:rPr lang="zh-CN" altLang="en-US" sz="8000" b="1" dirty="0">
                  <a:solidFill>
                    <a:srgbClr val="264D88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项目背景</a:t>
              </a:r>
              <a:endParaRPr lang="zh-CN" altLang="en-US" sz="8000" b="1" dirty="0">
                <a:solidFill>
                  <a:srgbClr val="264D88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  <a:p>
              <a:pPr algn="dist"/>
              <a:endParaRPr lang="zh-CN" altLang="en-US" sz="80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sym typeface="+mn-ea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4291" y="6076"/>
              <a:ext cx="10619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思源宋体" panose="02020400000000000000" charset="-122"/>
                <a:sym typeface="+mn-ea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8459" y="1561"/>
              <a:ext cx="2150" cy="2052"/>
              <a:chOff x="8884" y="1621"/>
              <a:chExt cx="2150" cy="2052"/>
            </a:xfrm>
          </p:grpSpPr>
          <p:sp>
            <p:nvSpPr>
              <p:cNvPr id="13" name="直角三角形 12"/>
              <p:cNvSpPr/>
              <p:nvPr/>
            </p:nvSpPr>
            <p:spPr>
              <a:xfrm rot="2700000" flipH="1">
                <a:off x="8933" y="1621"/>
                <a:ext cx="2052" cy="2052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51" name="等腰三角形 50"/>
              <p:cNvSpPr/>
              <p:nvPr/>
            </p:nvSpPr>
            <p:spPr>
              <a:xfrm flipV="1">
                <a:off x="8884" y="2319"/>
                <a:ext cx="2151" cy="1355"/>
              </a:xfrm>
              <a:prstGeom prst="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  <p:sp>
          <p:nvSpPr>
            <p:cNvPr id="15" name="文本框 14"/>
            <p:cNvSpPr txBox="1"/>
            <p:nvPr/>
          </p:nvSpPr>
          <p:spPr>
            <a:xfrm>
              <a:off x="8948" y="2171"/>
              <a:ext cx="1174" cy="10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3600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01</a:t>
              </a:r>
              <a:endParaRPr lang="en-US" altLang="zh-CN" sz="3600" dirty="0">
                <a:solidFill>
                  <a:schemeClr val="bg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9057005" y="5485130"/>
            <a:ext cx="4485640" cy="2734945"/>
            <a:chOff x="16183" y="9681"/>
            <a:chExt cx="4304" cy="2624"/>
          </a:xfrm>
        </p:grpSpPr>
        <p:sp>
          <p:nvSpPr>
            <p:cNvPr id="9" name="直角三角形 8"/>
            <p:cNvSpPr/>
            <p:nvPr/>
          </p:nvSpPr>
          <p:spPr>
            <a:xfrm rot="18900000" flipH="1" flipV="1">
              <a:off x="17863" y="9681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10" name="直角三角形 9"/>
            <p:cNvSpPr/>
            <p:nvPr/>
          </p:nvSpPr>
          <p:spPr>
            <a:xfrm rot="18900000" flipH="1" flipV="1">
              <a:off x="16183" y="9681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  <p:transition advTm="2000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2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-227965" y="0"/>
            <a:ext cx="11194415" cy="5434330"/>
            <a:chOff x="-359" y="0"/>
            <a:chExt cx="17629" cy="8558"/>
          </a:xfrm>
        </p:grpSpPr>
        <p:grpSp>
          <p:nvGrpSpPr>
            <p:cNvPr id="2" name="组合 1"/>
            <p:cNvGrpSpPr/>
            <p:nvPr/>
          </p:nvGrpSpPr>
          <p:grpSpPr>
            <a:xfrm>
              <a:off x="1887" y="2769"/>
              <a:ext cx="15383" cy="5789"/>
              <a:chOff x="1887" y="2769"/>
              <a:chExt cx="15383" cy="5789"/>
            </a:xfrm>
          </p:grpSpPr>
          <p:cxnSp>
            <p:nvCxnSpPr>
              <p:cNvPr id="56" name="直接连接符 55"/>
              <p:cNvCxnSpPr/>
              <p:nvPr/>
            </p:nvCxnSpPr>
            <p:spPr>
              <a:xfrm>
                <a:off x="1887" y="5842"/>
                <a:ext cx="15383" cy="0"/>
              </a:xfrm>
              <a:prstGeom prst="line">
                <a:avLst/>
              </a:prstGeom>
              <a:ln w="3175" cap="rnd">
                <a:solidFill>
                  <a:srgbClr val="1C4F9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ïṥliďè"/>
              <p:cNvSpPr/>
              <p:nvPr/>
            </p:nvSpPr>
            <p:spPr>
              <a:xfrm>
                <a:off x="6785" y="2769"/>
                <a:ext cx="5736" cy="5789"/>
              </a:xfrm>
              <a:prstGeom prst="diamond">
                <a:avLst/>
              </a:prstGeom>
              <a:solidFill>
                <a:srgbClr val="1C4F90"/>
              </a:solidFill>
              <a:ln>
                <a:noFill/>
              </a:ln>
              <a:effectLst>
                <a:outerShdw dist="381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51837" tIns="25917" rIns="51837" bIns="25917" numCol="1" spcCol="0" rtlCol="0" fromWordArt="0" anchor="ctr" anchorCtr="0" forceAA="0" compatLnSpc="1">
                <a:normAutofit/>
              </a:bodyPr>
              <a:lstStyle/>
              <a:p>
                <a:pPr algn="ctr"/>
                <a:endParaRPr lang="id-ID" altLang="zh-CN" sz="1415" i="1" u="sng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字魂95号-手刻宋" panose="00000500000000000000" pitchFamily="2" charset="-122"/>
                  <a:ea typeface="字魂95号-手刻宋" panose="00000500000000000000" pitchFamily="2" charset="-122"/>
                </a:endParaRPr>
              </a:p>
            </p:txBody>
          </p:sp>
          <p:sp>
            <p:nvSpPr>
              <p:cNvPr id="58" name="íşľïde"/>
              <p:cNvSpPr/>
              <p:nvPr/>
            </p:nvSpPr>
            <p:spPr>
              <a:xfrm>
                <a:off x="5283" y="5344"/>
                <a:ext cx="2878" cy="997"/>
              </a:xfrm>
              <a:prstGeom prst="flowChartPreparation">
                <a:avLst/>
              </a:prstGeom>
              <a:solidFill>
                <a:srgbClr val="1C4F90"/>
              </a:solidFill>
              <a:ln w="3175">
                <a:noFill/>
              </a:ln>
            </p:spPr>
            <p:txBody>
              <a:bodyPr wrap="square" lIns="51837" tIns="25917" rIns="51837" bIns="25917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 lang="en-US" altLang="zh-CN" sz="1020" b="1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59" name="íṩlíḑe"/>
              <p:cNvSpPr/>
              <p:nvPr/>
            </p:nvSpPr>
            <p:spPr>
              <a:xfrm>
                <a:off x="11048" y="5344"/>
                <a:ext cx="2878" cy="997"/>
              </a:xfrm>
              <a:prstGeom prst="flowChartPreparation">
                <a:avLst/>
              </a:prstGeom>
              <a:solidFill>
                <a:srgbClr val="1C4F90"/>
              </a:solidFill>
              <a:ln w="3175">
                <a:noFill/>
              </a:ln>
            </p:spPr>
            <p:txBody>
              <a:bodyPr wrap="square" lIns="51837" tIns="25917" rIns="51837" bIns="25917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 lang="en-US" altLang="zh-CN" sz="1020" b="1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3" name="文本框 99"/>
              <p:cNvSpPr txBox="1"/>
              <p:nvPr/>
            </p:nvSpPr>
            <p:spPr bwMode="auto">
              <a:xfrm>
                <a:off x="12359" y="3678"/>
                <a:ext cx="4082" cy="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endParaRPr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  <p:sp>
            <p:nvSpPr>
              <p:cNvPr id="5" name="文本框 100"/>
              <p:cNvSpPr txBox="1"/>
              <p:nvPr/>
            </p:nvSpPr>
            <p:spPr bwMode="auto">
              <a:xfrm>
                <a:off x="12359" y="2989"/>
                <a:ext cx="3377" cy="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endParaRPr lang="en-US" altLang="zh-CN" sz="1600" b="1" dirty="0">
                  <a:solidFill>
                    <a:srgbClr val="1C4F90"/>
                  </a:solidFill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  <p:sp>
            <p:nvSpPr>
              <p:cNvPr id="6" name="文本框 99"/>
              <p:cNvSpPr txBox="1"/>
              <p:nvPr/>
            </p:nvSpPr>
            <p:spPr bwMode="auto">
              <a:xfrm>
                <a:off x="12359" y="7190"/>
                <a:ext cx="4082" cy="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8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</a:defRPr>
                </a:lvl1pPr>
              </a:lstStyle>
              <a:p>
                <a:endParaRPr lang="en-US" altLang="zh-CN" dirty="0">
                  <a:sym typeface="+mn-ea"/>
                </a:endParaRPr>
              </a:p>
            </p:txBody>
          </p:sp>
          <p:sp>
            <p:nvSpPr>
              <p:cNvPr id="7" name="文本框 100"/>
              <p:cNvSpPr txBox="1"/>
              <p:nvPr/>
            </p:nvSpPr>
            <p:spPr bwMode="auto">
              <a:xfrm>
                <a:off x="12359" y="6501"/>
                <a:ext cx="3377" cy="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endParaRPr lang="en-US" altLang="zh-CN" sz="1600" b="1" dirty="0">
                  <a:solidFill>
                    <a:srgbClr val="1C4F90"/>
                  </a:solidFill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  <p:sp>
            <p:nvSpPr>
              <p:cNvPr id="8" name="文本框 99"/>
              <p:cNvSpPr txBox="1"/>
              <p:nvPr/>
            </p:nvSpPr>
            <p:spPr bwMode="auto">
              <a:xfrm>
                <a:off x="2959" y="3678"/>
                <a:ext cx="4082" cy="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lnSpc>
                    <a:spcPct val="150000"/>
                  </a:lnSpc>
                </a:pPr>
                <a:endParaRPr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  <p:sp>
            <p:nvSpPr>
              <p:cNvPr id="9" name="文本框 100"/>
              <p:cNvSpPr txBox="1"/>
              <p:nvPr/>
            </p:nvSpPr>
            <p:spPr bwMode="auto">
              <a:xfrm>
                <a:off x="3664" y="2989"/>
                <a:ext cx="3377" cy="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lnSpc>
                    <a:spcPct val="150000"/>
                  </a:lnSpc>
                </a:pPr>
                <a:endParaRPr lang="en-US" altLang="zh-CN" sz="1600" b="1" dirty="0">
                  <a:solidFill>
                    <a:srgbClr val="1C4F90"/>
                  </a:solidFill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  <p:sp>
            <p:nvSpPr>
              <p:cNvPr id="10" name="文本框 99"/>
              <p:cNvSpPr txBox="1"/>
              <p:nvPr/>
            </p:nvSpPr>
            <p:spPr bwMode="auto">
              <a:xfrm>
                <a:off x="2959" y="7190"/>
                <a:ext cx="4082" cy="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r">
                  <a:lnSpc>
                    <a:spcPct val="150000"/>
                  </a:lnSpc>
                  <a:defRPr sz="8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</a:defRPr>
                </a:lvl1pPr>
              </a:lstStyle>
              <a:p>
                <a:endParaRPr lang="en-US" altLang="zh-CN" dirty="0">
                  <a:sym typeface="+mn-ea"/>
                </a:endParaRPr>
              </a:p>
            </p:txBody>
          </p:sp>
          <p:sp>
            <p:nvSpPr>
              <p:cNvPr id="11" name="文本框 100"/>
              <p:cNvSpPr txBox="1"/>
              <p:nvPr/>
            </p:nvSpPr>
            <p:spPr bwMode="auto">
              <a:xfrm>
                <a:off x="3664" y="6501"/>
                <a:ext cx="3377" cy="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lnSpc>
                    <a:spcPct val="150000"/>
                  </a:lnSpc>
                </a:pPr>
                <a:endParaRPr lang="en-US" altLang="zh-CN" sz="1600" b="1" dirty="0">
                  <a:solidFill>
                    <a:srgbClr val="1C4F90"/>
                  </a:solidFill>
                  <a:uFillTx/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-359" y="0"/>
              <a:ext cx="2564" cy="2222"/>
              <a:chOff x="-249" y="-12"/>
              <a:chExt cx="1780" cy="1542"/>
            </a:xfrm>
          </p:grpSpPr>
          <p:sp>
            <p:nvSpPr>
              <p:cNvPr id="15" name="直角三角形 14"/>
              <p:cNvSpPr/>
              <p:nvPr/>
            </p:nvSpPr>
            <p:spPr>
              <a:xfrm flipV="1">
                <a:off x="0" y="-12"/>
                <a:ext cx="1241" cy="1023"/>
              </a:xfrm>
              <a:prstGeom prst="rt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直角三角形 16"/>
              <p:cNvSpPr/>
              <p:nvPr/>
            </p:nvSpPr>
            <p:spPr>
              <a:xfrm flipV="1">
                <a:off x="-249" y="148"/>
                <a:ext cx="1780" cy="1383"/>
              </a:xfrm>
              <a:prstGeom prst="rtTriangle">
                <a:avLst/>
              </a:prstGeom>
              <a:noFill/>
              <a:ln>
                <a:solidFill>
                  <a:srgbClr val="DCDCDC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1C4F90"/>
                    </a:solidFill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6" name="文本框 15"/>
            <p:cNvSpPr txBox="1"/>
            <p:nvPr/>
          </p:nvSpPr>
          <p:spPr>
            <a:xfrm>
              <a:off x="1579" y="458"/>
              <a:ext cx="8670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36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1.1</a:t>
              </a:r>
              <a:r>
                <a:rPr lang="zh-CN" altLang="en-US" sz="36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项目背景与测试目标</a:t>
              </a:r>
              <a:endParaRPr lang="zh-CN" altLang="en-US" sz="36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689" y="1344"/>
              <a:ext cx="4321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endParaRPr lang="zh-CN" altLang="en-US" sz="1200" dirty="0">
                <a:solidFill>
                  <a:srgbClr val="264D88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  <p:graphicFrame>
        <p:nvGraphicFramePr>
          <p:cNvPr id="19" name="Table 2"/>
          <p:cNvGraphicFramePr>
            <a:graphicFrameLocks noGrp="1"/>
          </p:cNvGraphicFramePr>
          <p:nvPr/>
        </p:nvGraphicFramePr>
        <p:xfrm>
          <a:off x="552450" y="1271270"/>
          <a:ext cx="40309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3660"/>
                <a:gridCol w="268732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lang="zh-CN"/>
                        <a:t>应用</a:t>
                      </a:r>
                      <a:r>
                        <a:t>维度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应用名称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Fossify Calculator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应用类型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Android 开源计算器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开源协议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完全开源 (GPL v3)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离线支持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无需网络权限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隐私保护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不收集用户数据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2235" y="2641600"/>
            <a:ext cx="1865630" cy="1755140"/>
          </a:xfrm>
          <a:prstGeom prst="rect">
            <a:avLst/>
          </a:prstGeom>
        </p:spPr>
      </p:pic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7646670" y="1290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</a:tblGrid>
              <a:tr h="30044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lang="zh-CN"/>
                        <a:t>测试</a:t>
                      </a:r>
                      <a:r>
                        <a:t>模块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基础运算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加减乘除、小数、负数运算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高级运算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幂运算、开方、百分比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单位转换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9大类109种单位相互转换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计算历史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历史记录保存、查看、清空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自定义设置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振动开关、屏幕常亮、主题颜色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桌面小部件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App Widget 快捷计算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4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335280" y="4026535"/>
          <a:ext cx="4205605" cy="206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910"/>
                <a:gridCol w="2893695"/>
              </a:tblGrid>
              <a:tr h="4127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测试维度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功能正确性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验证核心计算逻辑准确性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代码质量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提升代码可维护性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性能稳定性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确保流畅运行体验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安全性验证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验证隐私合规性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3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7428865" y="4025900"/>
          <a:ext cx="4206240" cy="2364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lang="zh-CN"/>
                        <a:t>阶段</a:t>
                      </a:r>
                      <a:endParaRPr lang="zh-CN"/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lang="zh-CN"/>
                        <a:t>内容</a:t>
                      </a:r>
                      <a:endParaRPr lang="zh-CN"/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准备阶段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源码获取与环境配置 (3d)</a:t>
                      </a:r>
                      <a:endParaRPr sz="1000">
                        <a:sym typeface="+mn-ea"/>
                      </a:endParaRPr>
                    </a:p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项目编译与初步运行 (3d)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358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测试实施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单元测试编写与执行 (7d)</a:t>
                      </a:r>
                      <a:endParaRPr sz="1000">
                        <a:sym typeface="+mn-ea"/>
                      </a:endParaRPr>
                    </a:p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集成测试编写与执行 (5d)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72795"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分析总结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覆盖率分析与报告生成 (3d)</a:t>
                      </a:r>
                      <a:endParaRPr sz="1000">
                        <a:sym typeface="+mn-ea"/>
                      </a:endParaRPr>
                    </a:p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rPr sz="1000">
                          <a:sym typeface="+mn-ea"/>
                        </a:rPr>
                        <a:t>性能测试与瓶颈分析 (3d)</a:t>
                      </a:r>
                      <a:endParaRPr sz="1000">
                        <a:sym typeface="+mn-ea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文本框 25"/>
          <p:cNvSpPr txBox="1"/>
          <p:nvPr/>
        </p:nvSpPr>
        <p:spPr>
          <a:xfrm>
            <a:off x="1728470" y="33807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应用介绍</a:t>
            </a:r>
            <a:endParaRPr lang="zh-CN" alt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728470" y="37642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测试维度</a:t>
            </a:r>
            <a:endParaRPr lang="zh-CN" alt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8843010" y="33413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测试模块</a:t>
            </a:r>
            <a:endParaRPr lang="zh-CN" alt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8843010" y="37344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测试步骤</a:t>
            </a:r>
            <a:endParaRPr lang="zh-CN" alt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</p:spTree>
    <p:custDataLst>
      <p:tags r:id="rId4"/>
    </p:custDataLst>
  </p:cSld>
  <p:clrMapOvr>
    <a:masterClrMapping/>
  </p:clrMapOvr>
  <p:transition advTm="2000">
    <p:blinds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3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ou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1.2</a:t>
            </a:r>
            <a:r>
              <a:t>系统架构与代码规模分析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52600" y="713232"/>
          <a:ext cx="4114800" cy="2803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914400"/>
              </a:tblGrid>
              <a:tr h="2438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版本要求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主要开发语言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1.9+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Android SDK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目标平台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API 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Jetpack Compose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设置页面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BOM 2024.x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Room Database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本地持久化存储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2.x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EvalEx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数学表达式解析库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最新版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BigDecimal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高精度数值计算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DECIMAL128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JUnit 4 / MockK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单元测试框架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4.13.2 / 1.13.x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/ Espresso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组件/UI 测试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4.x / 3.5.x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Jacoco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代码覆盖率工具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0.8.x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58840" y="713232"/>
          <a:ext cx="4159885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3765"/>
                <a:gridCol w="1874520"/>
              </a:tblGrid>
              <a:tr h="38535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Package 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10 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org.fossify.math.* 下 10 个子包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Kotlin 源文件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35 个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app/src/main/kotlin 下的 .kt 文件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Class 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32+ 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含 Activity、类、接口、单例、数据类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Method 数量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~240+ 个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含重写方法、私有方法、扩展函数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代码总行数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~3500+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不含自动生成的 BuildConfig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Activity 数量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7 个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主界面、设置、单位转换等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716405" y="3893820"/>
            <a:ext cx="8951595" cy="2590165"/>
          </a:xfrm>
          <a:prstGeom prst="roundRect">
            <a:avLst/>
          </a:prstGeom>
          <a:solidFill>
            <a:srgbClr val="E8EA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9760" y="3619373"/>
            <a:ext cx="27432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7E"/>
                </a:solidFill>
                <a:latin typeface="微软雅黑" panose="020B0503020204020204" pitchFamily="34" charset="-122"/>
              </a:defRPr>
            </a:pPr>
            <a:r>
              <a:t>包结构 org.fossify.math.*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5480" y="3858768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activities     → 7个Activity (MainActivity/Settings/UnitConverter...)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0" y="4014215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adapters       → 2个RecyclerView适配器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5480" y="4169663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compose        → 1个Compose组件 (SettingsScreen)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5480" y="4325112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databases      → Room数据库单例 + DAO接口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5480" y="4480559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dialogs        → 历史对话框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5480" y="4636007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extensions     → 6个扩展函数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5480" y="4791455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helpers        → 核心业务逻辑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5480" y="4946903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   ├── CalculatorImpl    → 核心计算引擎 (~20方法)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5480" y="5102351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   ├── NumberFormatHelper→ 数字格式化工具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5480" y="5257799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   └── converters       → 9种单位转换器 (Length/Area/Volume/Mass/Temp/Time/Speed/Pressure/Energy)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5480" y="5413247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interfaces      → DAO接口定义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5480" y="5568695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models         → 数据模型 (History Entity / ConverterUnitsState)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5480" y="5724143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receivers      → 语言切换广播接收器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5480" y="5879591"/>
            <a:ext cx="804672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views          → 自定义转换视图 (ConverterView)</a:t>
            </a:r>
          </a:p>
        </p:txBody>
      </p:sp>
    </p:spTree>
  </p:cSld>
  <p:clrMapOvr>
    <a:masterClrMapping/>
  </p:clrMapOvr>
  <p:transition advTm="2000">
    <p:wedg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1.3 </a:t>
            </a:r>
            <a:r>
              <a:t>核心类关系图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4635" y="713105"/>
            <a:ext cx="5180965" cy="5683885"/>
          </a:xfrm>
          <a:prstGeom prst="roundRect">
            <a:avLst/>
          </a:prstGeom>
          <a:solidFill>
            <a:srgbClr val="FAFA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44040" y="786384"/>
            <a:ext cx="45720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核心类关系简化视图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1472" y="1060704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┌─────────────────────┐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1472" y="1202436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 MainActivity      │ ◄── 主界面入口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1472" y="1344168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(实现Calculator)    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1472" y="1485900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└─────────┬───────────┘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1472" y="1627632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       │ creates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1472" y="1769364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       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1472" y="1911095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┌─────────────────────┐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1472" y="2052827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 CalculatorImpl    │ ◄── 核心计算引擎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1472" y="2194559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(~20个方法)         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1472" y="2336291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└──┬──────┬───────────┘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1472" y="2478023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│      │ 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1472" y="2619755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▼      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1472" y="2761487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┌──────┐ ┌────────────┐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1472" y="2903219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│EvalEx│ │NumberFormat│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1472" y="3044951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│求值  │ │Helper格式化│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1472" y="3186683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└──────┘ └────────────┘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1472" y="3328415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1871472" y="3470147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┌─────────────────────┐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1472" y="3611879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Converter 接口     │ ◄── 策略模式基类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1472" y="3753611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└─────────┬───────────┘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1472" y="3895343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implemented by (9种)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1472" y="4037075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Length / Area / Volume / Mass / Temperature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1472" y="4178807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Time / Speed / Pressure / Energy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1472" y="4320539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1871472" y="4462271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┌─────────────────────┐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1472" y="4604003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CalculatorDatabase  │ ◄── Room单例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1472" y="4745736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└─ CalculatorDao   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1472" y="4887468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   CRUD 操作       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1472" y="5029200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└─────────┬───────────┘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1472" y="5170932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       │ manages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1472" y="5312664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          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1472" y="5454396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┌─────────────────────┐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1472" y="5596128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  History Entity    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71472" y="5737860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│ (formula/result/ts) 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1472" y="5879592"/>
            <a:ext cx="4846320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Consolas" panose="020B0609020204030204"/>
              </a:defRPr>
            </a:pPr>
            <a:r>
              <a:t>└─────────────────────┘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717665" y="713740"/>
          <a:ext cx="4953000" cy="2836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55"/>
                <a:gridCol w="2036445"/>
                <a:gridCol w="1308100"/>
              </a:tblGrid>
              <a:tr h="31305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模式名称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应用位置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MVP 变体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MainActivity + CalculatorImpl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View-Presenter 分离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926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策略模式 Strategy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Converter 接口 + 9种实现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单位转换算法封装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926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单例模式 Singleton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CalculatorDatabase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全局唯一数据库实例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观察者模式 Observer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OnUnitChangedListener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单位变更通知回调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926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工厂模式 Factory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ValueWithUnit 创建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统一创建带单位的值对象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advTm="2000">
    <p:wedg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1.3 </a:t>
            </a:r>
            <a:r>
              <a:t>核心类关系图</a:t>
            </a:r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" y="531495"/>
            <a:ext cx="12153900" cy="5812790"/>
          </a:xfrm>
          <a:prstGeom prst="rect">
            <a:avLst/>
          </a:prstGeom>
        </p:spPr>
      </p:pic>
    </p:spTree>
  </p:cSld>
  <p:clrMapOvr>
    <a:masterClrMapping/>
  </p:clrMapOvr>
  <p:transition advTm="2000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1.3 </a:t>
            </a:r>
            <a:r>
              <a:rPr lang="zh-CN" altLang="en-US"/>
              <a:t>简化数据流图</a:t>
            </a:r>
            <a:endParaRPr lang="zh-CN" altLang="en-US"/>
          </a:p>
        </p:txBody>
      </p:sp>
      <p:pic>
        <p:nvPicPr>
          <p:cNvPr id="3" name="图片 2" descr="数据流图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94230"/>
            <a:ext cx="12192000" cy="2669540"/>
          </a:xfrm>
          <a:prstGeom prst="rect">
            <a:avLst/>
          </a:prstGeom>
        </p:spPr>
      </p:pic>
    </p:spTree>
  </p:cSld>
  <p:clrMapOvr>
    <a:masterClrMapping/>
  </p:clrMapOvr>
  <p:transition advTm="2000">
    <p:wedg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1.4 </a:t>
            </a:r>
            <a:r>
              <a:t>系统功能结构图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95400" y="731393"/>
            <a:ext cx="1664208" cy="2286000"/>
          </a:xfrm>
          <a:prstGeom prst="round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68552" y="786257"/>
            <a:ext cx="1517904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 计算器模块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8552" y="1078865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基础运算: 加减乘除、小数、负数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552" y="1408049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高级运算: 幂运算^、开方√、百分比%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8552" y="1737233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数字格式化: 千分位分隔、本地化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960" y="749808"/>
            <a:ext cx="1664208" cy="2286000"/>
          </a:xfrm>
          <a:prstGeom prst="round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3112" y="804672"/>
            <a:ext cx="1517904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 单位转换模块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3112" y="1097280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长度转换 17种 / 面积转换 10种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3112" y="1426464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体积转换 24种 / 质量转换 15种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3112" y="1755648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温度/时间/速度/压强/能量 共48种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47690" y="749808"/>
            <a:ext cx="1664208" cy="2286000"/>
          </a:xfrm>
          <a:prstGeom prst="round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84647" y="804672"/>
            <a:ext cx="1517904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历史记录模块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5437" y="1097280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保存计算记录、查看历史列表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8927" y="1426464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复用历史结果、清空历史记录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78444" y="749808"/>
            <a:ext cx="1664208" cy="2286000"/>
          </a:xfrm>
          <a:prstGeom prst="round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8571" y="804672"/>
            <a:ext cx="1517904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 设置模块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8571" y="1097280"/>
            <a:ext cx="1517904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振动开关、屏幕常亮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9206" y="1426464"/>
            <a:ext cx="1517904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主题颜色定制、语言切换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72370" y="763778"/>
            <a:ext cx="1664208" cy="2286000"/>
          </a:xfrm>
          <a:prstGeom prst="round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73132" y="818642"/>
            <a:ext cx="1517904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小部件模块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2497" y="1097280"/>
            <a:ext cx="1517904" cy="352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桌面快捷计算、自定义配色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" y="3154680"/>
            <a:ext cx="9804400" cy="2919730"/>
          </a:xfrm>
          <a:prstGeom prst="roundRect">
            <a:avLst/>
          </a:prstGeom>
          <a:solidFill>
            <a:srgbClr val="FCFC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3670" y="3227832"/>
            <a:ext cx="36576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t>核心数据流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5400" y="3520440"/>
            <a:ext cx="3931920" cy="1991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424242"/>
                </a:solidFill>
                <a:latin typeface="Consolas" panose="020B0609020204030204"/>
              </a:defRPr>
            </a:pPr>
            <a:r>
              <a:t>用户点击按钮</a:t>
            </a:r>
            <a:br/>
            <a:r>
              <a:t>    ↓</a:t>
            </a:r>
            <a:br/>
            <a:r>
              <a:t>MainActivity.numpadClicked()</a:t>
            </a:r>
            <a:br/>
            <a:r>
              <a:t>    ↓</a:t>
            </a:r>
            <a:br/>
            <a:r>
              <a:t>CalculatorImpl 构建表达式</a:t>
            </a:r>
            <a:br/>
            <a:r>
              <a:t>    ↓</a:t>
            </a:r>
            <a:br/>
            <a:r>
              <a:t>EvalEx 解析表达式 → BigDecimal 结果</a:t>
            </a:r>
            <a:br/>
            <a:r>
              <a:t>    ↓</a:t>
            </a:r>
            <a:br/>
            <a:r>
              <a:t>NumberFormatHelper 格式化显示</a:t>
            </a:r>
            <a:br/>
            <a:r>
              <a:t>    ↓</a:t>
            </a:r>
            <a:br/>
            <a:r>
              <a:t>showNewResult() 更新 UI</a:t>
            </a:r>
            <a:br/>
            <a:br/>
            <a:r>
              <a:t>同时: HistoryHelper → Room Database 持久化历史记录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862320" y="3171190"/>
          <a:ext cx="5600065" cy="28911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310"/>
                <a:gridCol w="707390"/>
                <a:gridCol w="1120140"/>
                <a:gridCol w="2181225"/>
              </a:tblGrid>
              <a:tr h="26606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转换器类别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单位数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基准单位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代表单位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LengthConverter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17 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km/cm/mm/inch/mile/光年...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AreaConverter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10 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SquareMeter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km²/inch²/公顷/亩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VolumeConverter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24 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CubicMeter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L/mL/gal/桶/盎司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MassConverter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15 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Kilogram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g/lb/oz/t/原子质量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9890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TemperatureConverter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4 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特殊偏移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℃ / ℉ / K / °R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TimeConverter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7 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Second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h/min/ms/d/周/y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SpeedConverter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8 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km/h/马赫/光速/节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PressureConverter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10 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Pascal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bar/atm/psi/托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EnergyConverter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14 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Joule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cal/kWh/eV/BTU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28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109 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覆盖物理/工程/日常生活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advTm="2000">
    <p:wedg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>
            <a:off x="-1246505" y="-1269365"/>
            <a:ext cx="4191000" cy="2555240"/>
            <a:chOff x="-1277" y="-1319"/>
            <a:chExt cx="4304" cy="2624"/>
          </a:xfrm>
        </p:grpSpPr>
        <p:sp>
          <p:nvSpPr>
            <p:cNvPr id="3" name="直角三角形 2"/>
            <p:cNvSpPr/>
            <p:nvPr/>
          </p:nvSpPr>
          <p:spPr>
            <a:xfrm rot="2700000" flipH="1">
              <a:off x="-1277" y="-1319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30" name="直角三角形 29"/>
            <p:cNvSpPr/>
            <p:nvPr/>
          </p:nvSpPr>
          <p:spPr>
            <a:xfrm rot="2700000" flipH="1">
              <a:off x="403" y="-1319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2724785" y="991235"/>
            <a:ext cx="7724775" cy="2506980"/>
            <a:chOff x="4291" y="1561"/>
            <a:chExt cx="12165" cy="3948"/>
          </a:xfrm>
        </p:grpSpPr>
        <p:sp>
          <p:nvSpPr>
            <p:cNvPr id="34" name="文本框 33"/>
            <p:cNvSpPr txBox="1"/>
            <p:nvPr/>
          </p:nvSpPr>
          <p:spPr>
            <a:xfrm>
              <a:off x="4291" y="4202"/>
              <a:ext cx="12165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二</a:t>
              </a:r>
              <a:r>
                <a:rPr lang="en-US" altLang="zh-CN" sz="48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、</a:t>
              </a:r>
              <a:r>
                <a:rPr lang="zh-CN" altLang="en-US" sz="48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单元测试与集成测试</a:t>
              </a:r>
              <a:endParaRPr lang="zh-CN" altLang="en-US" sz="48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sym typeface="+mn-ea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8459" y="1561"/>
              <a:ext cx="2150" cy="2052"/>
              <a:chOff x="8884" y="1621"/>
              <a:chExt cx="2150" cy="2052"/>
            </a:xfrm>
          </p:grpSpPr>
          <p:sp>
            <p:nvSpPr>
              <p:cNvPr id="13" name="直角三角形 12"/>
              <p:cNvSpPr/>
              <p:nvPr/>
            </p:nvSpPr>
            <p:spPr>
              <a:xfrm rot="2700000" flipH="1">
                <a:off x="8933" y="1621"/>
                <a:ext cx="2052" cy="2052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51" name="等腰三角形 50"/>
              <p:cNvSpPr/>
              <p:nvPr/>
            </p:nvSpPr>
            <p:spPr>
              <a:xfrm flipV="1">
                <a:off x="8884" y="2319"/>
                <a:ext cx="2151" cy="1355"/>
              </a:xfrm>
              <a:prstGeom prst="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  <p:sp>
          <p:nvSpPr>
            <p:cNvPr id="15" name="文本框 14"/>
            <p:cNvSpPr txBox="1"/>
            <p:nvPr/>
          </p:nvSpPr>
          <p:spPr>
            <a:xfrm>
              <a:off x="8948" y="2171"/>
              <a:ext cx="1174" cy="10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3600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02</a:t>
              </a:r>
              <a:endParaRPr lang="en-US" altLang="zh-CN" sz="3600" dirty="0">
                <a:solidFill>
                  <a:schemeClr val="bg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9057005" y="5485130"/>
            <a:ext cx="4485640" cy="2734945"/>
            <a:chOff x="16183" y="9681"/>
            <a:chExt cx="4304" cy="2624"/>
          </a:xfrm>
        </p:grpSpPr>
        <p:sp>
          <p:nvSpPr>
            <p:cNvPr id="9" name="直角三角形 8"/>
            <p:cNvSpPr/>
            <p:nvPr/>
          </p:nvSpPr>
          <p:spPr>
            <a:xfrm rot="18900000" flipH="1" flipV="1">
              <a:off x="17863" y="9681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10" name="直角三角形 9"/>
            <p:cNvSpPr/>
            <p:nvPr/>
          </p:nvSpPr>
          <p:spPr>
            <a:xfrm rot="18900000" flipH="1" flipV="1">
              <a:off x="16183" y="9681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  <p:transition advTm="2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2.1 </a:t>
            </a:r>
            <a:r>
              <a:t>测试体系设计与架构</a:t>
            </a:r>
          </a:p>
        </p:txBody>
      </p:sp>
      <p:sp>
        <p:nvSpPr>
          <p:cNvPr id="3" name="Trapezoid 2"/>
          <p:cNvSpPr/>
          <p:nvPr/>
        </p:nvSpPr>
        <p:spPr>
          <a:xfrm>
            <a:off x="2438400" y="1169670"/>
            <a:ext cx="1689735" cy="1051560"/>
          </a:xfrm>
          <a:prstGeom prst="trapezoid">
            <a:avLst/>
          </a:prstGeom>
          <a:solidFill>
            <a:srgbClr val="C8E6C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29840" y="1242695"/>
            <a:ext cx="1501775" cy="497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静态分析 / Lint (Detekt/Jacoco/Lint)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840" y="1553845"/>
            <a:ext cx="1501775" cy="4349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底层：速度快、数量多、成本低</a:t>
            </a:r>
          </a:p>
        </p:txBody>
      </p:sp>
      <p:sp>
        <p:nvSpPr>
          <p:cNvPr id="6" name="Trapezoid 5"/>
          <p:cNvSpPr/>
          <p:nvPr/>
        </p:nvSpPr>
        <p:spPr>
          <a:xfrm>
            <a:off x="1706880" y="1946910"/>
            <a:ext cx="3191510" cy="1051560"/>
          </a:xfrm>
          <a:prstGeom prst="trapezoid">
            <a:avLst/>
          </a:prstGeom>
          <a:solidFill>
            <a:srgbClr val="FFECB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98320" y="2019935"/>
            <a:ext cx="3004185" cy="3105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单元测试 (JUnit + MockK + Robolectric)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8320" y="2331085"/>
            <a:ext cx="3004185" cy="2787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~70+ 用例 | JVM 本地运行 | 秒级</a:t>
            </a:r>
          </a:p>
        </p:txBody>
      </p:sp>
      <p:sp>
        <p:nvSpPr>
          <p:cNvPr id="9" name="Trapezoid 8"/>
          <p:cNvSpPr/>
          <p:nvPr/>
        </p:nvSpPr>
        <p:spPr>
          <a:xfrm>
            <a:off x="975360" y="2724150"/>
            <a:ext cx="4693920" cy="1051560"/>
          </a:xfrm>
          <a:prstGeom prst="trapezoid">
            <a:avLst/>
          </a:prstGeom>
          <a:solidFill>
            <a:srgbClr val="FFCCB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797175"/>
            <a:ext cx="4505960" cy="3105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集成测试 (Espresso + AndroidX 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108325"/>
            <a:ext cx="4505960" cy="2787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~21 用例 | 真机/模拟器 | 分钟级</a:t>
            </a:r>
          </a:p>
        </p:txBody>
      </p:sp>
      <p:sp>
        <p:nvSpPr>
          <p:cNvPr id="12" name="Trapezoid 11"/>
          <p:cNvSpPr/>
          <p:nvPr/>
        </p:nvSpPr>
        <p:spPr>
          <a:xfrm>
            <a:off x="243840" y="3501390"/>
            <a:ext cx="6195695" cy="1051560"/>
          </a:xfrm>
          <a:prstGeom prst="trapezoid">
            <a:avLst/>
          </a:prstGeom>
          <a:solidFill>
            <a:srgbClr val="FFCDD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280" y="3574415"/>
            <a:ext cx="6008370" cy="3105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端到端测试 E2E (少量)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80" y="3885565"/>
            <a:ext cx="6008370" cy="2787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顶层：速度慢、数量少、成本高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1140" y="674370"/>
          <a:ext cx="4441825" cy="1730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610"/>
                <a:gridCol w="3244215"/>
              </a:tblGrid>
              <a:tr h="34607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技术栈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单元测试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JUnit 4 + MockK + Robolectric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集成测试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Espresso + AndroidX Test (ActivityScenarioRule)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静态分析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Detekt Kotlin Lint + Jacoco + Android Lint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覆盖率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Jacoco (单元+集成合并报告)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16370" y="2496185"/>
          <a:ext cx="4505960" cy="2173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355"/>
                <a:gridCol w="1316355"/>
                <a:gridCol w="1873250"/>
              </a:tblGrid>
              <a:tr h="31051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配置项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编译 SDK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compileSdk 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编译时使用的 SDK 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目标 SDK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targetSdk 34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目标设备版本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最低 SDK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minSdk 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最低兼容 Android 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SDK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@Config(sdk=[33])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模拟 SDK 版本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Kotlin 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1.9.22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编译器版本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515"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Gradle / AGP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8.4 / 8.2.0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构建工具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35915" y="4660265"/>
          <a:ext cx="11026775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7060"/>
                <a:gridCol w="1290320"/>
                <a:gridCol w="2111375"/>
                <a:gridCol w="1172845"/>
                <a:gridCol w="4575175"/>
              </a:tblGrid>
              <a:tr h="375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执行位置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运行环境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耗时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覆盖重点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纯逻辑单元测试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test/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JVM 本地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秒级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纯 Kotlin 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Android 组件测试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test/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模拟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秒~十秒级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Activity/View/Context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数据库测试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test/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+ Room 内存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十秒级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DAO CRUD / 单例线程安全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UI 集成测试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androidTest/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真机/模拟器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分钟级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用户交互 / E2E 场景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advTm="2000">
    <p:wedg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2.2 </a:t>
            </a:r>
            <a:r>
              <a:t>单元测试设计与典型案例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14475" y="589280"/>
          <a:ext cx="8933180" cy="1881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664845"/>
                <a:gridCol w="760730"/>
                <a:gridCol w="3041015"/>
                <a:gridCol w="2851150"/>
              </a:tblGrid>
              <a:tr h="27114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测试模块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测试类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方法数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覆盖重点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测试框架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MainActivity UI 交互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helpers 核心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CalculatorImpl / Constants / Format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MockK + JUnit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helpers.converters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全部 9 种转换器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纯 JUnit (JVM)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databases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单例 &amp; DAO 操作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+ Room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6733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adapters/dialogs/models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Adapter/Dialog/State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JUnit / Mockito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**18**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**~70+**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全部核心模块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706880" y="2487295"/>
            <a:ext cx="4187825" cy="1828800"/>
          </a:xfrm>
          <a:prstGeom prst="roundRect">
            <a:avLst/>
          </a:prstGeom>
          <a:solidFill>
            <a:srgbClr val="FAFAFA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06880" y="2487295"/>
            <a:ext cx="4187825" cy="301625"/>
          </a:xfrm>
          <a:prstGeom prst="rect">
            <a:avLst/>
          </a:prstGeom>
          <a:solidFill>
            <a:srgbClr val="43A0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44675" y="2514600"/>
            <a:ext cx="3977005" cy="2216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案例一: MainActivity Robolectric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5752" y="2852928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使用 @RunWith(RobolectricTestRunner::class)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5752" y="3118104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@Config(sdk=[33]) + @LooperMode(PAUSED)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5752" y="3383280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6个方法: 加减乘除 + 清除操作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5752" y="3648456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shadowOf(Looper).idle() 确保 UI 更新完成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5752" y="3913632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验证: assertEquals('3', result)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1865" y="2487295"/>
            <a:ext cx="4270375" cy="1828800"/>
          </a:xfrm>
          <a:prstGeom prst="roundRect">
            <a:avLst/>
          </a:prstGeom>
          <a:solidFill>
            <a:srgbClr val="FAFAFA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1865" y="2487295"/>
            <a:ext cx="4270375" cy="285750"/>
          </a:xfrm>
          <a:prstGeom prst="rect">
            <a:avLst/>
          </a:prstGeom>
          <a:solidFill>
            <a:srgbClr val="7B1FA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4890" y="2514600"/>
            <a:ext cx="370586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案例二: CalculatorImpl MockK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3431" y="2852928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mockk(relaxed=true) 宽松 Mock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3431" y="3118104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mockkConstructor(NumberFormatHelper)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3431" y="3383280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拦截 formatForDisplay 返回原值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3431" y="3648456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verify(exactly=N) 精确控制调用次数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3431" y="3913632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隔离 NumberFormatHelper 外部依赖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34185" y="4416425"/>
            <a:ext cx="4160520" cy="2127885"/>
          </a:xfrm>
          <a:prstGeom prst="roundRect">
            <a:avLst/>
          </a:prstGeom>
          <a:solidFill>
            <a:srgbClr val="FAFAFA"/>
          </a:solidFill>
          <a:ln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34312" y="4416552"/>
            <a:ext cx="4160520" cy="301752"/>
          </a:xfrm>
          <a:prstGeom prst="rect">
            <a:avLst/>
          </a:prstGeom>
          <a:solidFill>
            <a:srgbClr val="FB8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7464" y="4443984"/>
            <a:ext cx="40142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案例三: 数据库单例 &amp; DAO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5752" y="4782312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单例唯一性: assertSame(inst1, inst2)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5752" y="5047488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线程安全: CountDownLatch 10线程并发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5752" y="5312664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销毁重建: destroyInstance 后重新获取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5752" y="5577840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DAO CRUD: 插入/查询/LIMIT/批量/清空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5752" y="5843016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Room 内存数据库独立测试文件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1865" y="4416425"/>
            <a:ext cx="4270375" cy="2127885"/>
          </a:xfrm>
          <a:prstGeom prst="roundRect">
            <a:avLst/>
          </a:prstGeom>
          <a:solidFill>
            <a:srgbClr val="FAFAFA"/>
          </a:solidFill>
          <a:ln>
            <a:solidFill>
              <a:srgbClr val="008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1865" y="4416425"/>
            <a:ext cx="4270375" cy="321310"/>
          </a:xfrm>
          <a:prstGeom prst="rect">
            <a:avLst/>
          </a:prstGeom>
          <a:solidFill>
            <a:srgbClr val="00896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4890" y="4443730"/>
            <a:ext cx="370649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案例四: Converter Roundtrip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3431" y="4782312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纯 JVM 测试，无需 Android 依赖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3431" y="5047488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Roundtrip: value → toBase → fromBase ==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3431" y="5312664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排除 TemperatureConverter (非线性)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3431" y="5577840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零值/同单位恒等性验证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3431" y="5843016"/>
            <a:ext cx="3977639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✓ BigDecimal compareTo==0 精确断言</a:t>
            </a:r>
          </a:p>
        </p:txBody>
      </p:sp>
    </p:spTree>
  </p:cSld>
  <p:clrMapOvr>
    <a:masterClrMapping/>
  </p:clrMapOvr>
  <p:transition advTm="2000">
    <p:wedg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2.3 </a:t>
            </a:r>
            <a:r>
              <a:t>Espresso UI 集成测试设计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675" y="713105"/>
          <a:ext cx="5501005" cy="270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4750"/>
                <a:gridCol w="733425"/>
                <a:gridCol w="1466850"/>
                <a:gridCol w="855980"/>
              </a:tblGrid>
              <a:tr h="431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测试类名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方法数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页面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9878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MainActivityEspressoTest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计算、清除、长按清空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主计算器界面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SettingsActivityEspressoTest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设置项切换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设置页面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878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UnitConverterActivityEspressoTest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输入、清除、转换显示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单位转换页面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78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UnitConverterPickerActivityTest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类型选择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单位选择器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WidgetConfigureActivityTest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颜色配置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小部件配置页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8780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**~21**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5 个 Activity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通过率 ~90%+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31535" y="713105"/>
          <a:ext cx="5759450" cy="270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560"/>
                <a:gridCol w="2099945"/>
                <a:gridCol w="2099945"/>
              </a:tblGrid>
              <a:tr h="36639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Robolectric 单元测试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Espresso 集成测试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67665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运行环境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JVM (模拟 Android)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真机 / 模拟器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UI 交互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view.performClick() 直接调用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onView(...).perform(click())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断言方式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assertEquals(text, result)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check(matches(withText()))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生命周期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手动 create/start/resume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ActivityScenarioRule 自动管理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7665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执行速度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~100ms / 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~1-3s / 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6395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逻辑验证 / CI 快速反馈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真实交互 / E2E 验收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20675" y="3579495"/>
            <a:ext cx="5611495" cy="3070860"/>
          </a:xfrm>
          <a:prstGeom prst="roundRect">
            <a:avLst/>
          </a:prstGeom>
          <a:solidFill>
            <a:srgbClr val="1E1E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4860" y="3696335"/>
            <a:ext cx="4846320" cy="27622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800" b="0">
                <a:solidFill>
                  <a:srgbClr val="D4D4D4"/>
                </a:solidFill>
                <a:latin typeface="Consolas" panose="020B0609020204030204"/>
              </a:defRPr>
            </a:pPr>
            <a:r>
              <a:t>// MainActivityEspressoTest.kt</a:t>
            </a:r>
            <a:br/>
            <a:r>
              <a:t>@RunWith(AndroidJUnit4::class)</a:t>
            </a:r>
            <a:br/>
            <a:r>
              <a:t>class MainActivityEspressoTest {</a:t>
            </a:r>
            <a:br/>
            <a:r>
              <a:t>    @get:Rule</a:t>
            </a:r>
            <a:br/>
            <a:r>
              <a:t>    val activityRule = ActivityScenarioRule(</a:t>
            </a:r>
            <a:br/>
            <a:r>
              <a:t>        MainActivity::class.java)</a:t>
            </a:r>
            <a:br/>
            <a:br/>
            <a:r>
              <a:t>    @Test</a:t>
            </a:r>
            <a:br/>
            <a:r>
              <a:t>    fun testAddTwoNumbers() {</a:t>
            </a:r>
            <a:br/>
            <a:r>
              <a:t>        clickView(R.id.btn_1)</a:t>
            </a:r>
            <a:br/>
            <a:r>
              <a:t>        clickView(R.id.btn_plus)</a:t>
            </a:r>
            <a:br/>
            <a:r>
              <a:t>        clickView(R.id.btn_2)</a:t>
            </a:r>
            <a:br/>
            <a:r>
              <a:t>        clickView(R.id.btn_equals)</a:t>
            </a:r>
            <a:br/>
            <a:br/>
            <a:r>
              <a:t>        onView(withId(R.id.result))</a:t>
            </a:r>
            <a:br/>
            <a:r>
              <a:t>            .check(matches(withText("3")))</a:t>
            </a:r>
            <a:br/>
            <a:r>
              <a:t>    }</a:t>
            </a:r>
            <a:br/>
            <a:br/>
            <a:r>
              <a:t>    @Test fun testClearAllOnLongPress() { ... }</a:t>
            </a:r>
            <a:br/>
            <a:r>
              <a:t>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932170" y="3576320"/>
          <a:ext cx="6017895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5014595"/>
              </a:tblGrid>
              <a:tr h="38417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步骤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① 安装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安装 APK 到测试设备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② 启动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ActivityScenarioRule 自动启动 Activity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③ 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Espresso onView(withId(...)) 定位控件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④ 操作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perform(click() / longClick()) 模拟用户行为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⑤ 断言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check(matches(withText(...))) 验证结果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⑥ 判定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PASS → 下一个 | FAIL → 截图+记录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417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⑦ 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生成 HTML/XML 测试报告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advTm="2000">
    <p:wedg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>
            <a:off x="-1246505" y="-1269365"/>
            <a:ext cx="4191000" cy="2555240"/>
            <a:chOff x="-1277" y="-1319"/>
            <a:chExt cx="4304" cy="2624"/>
          </a:xfrm>
        </p:grpSpPr>
        <p:sp>
          <p:nvSpPr>
            <p:cNvPr id="3" name="直角三角形 2"/>
            <p:cNvSpPr/>
            <p:nvPr/>
          </p:nvSpPr>
          <p:spPr>
            <a:xfrm rot="2700000" flipH="1">
              <a:off x="-1277" y="-1319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30" name="直角三角形 29"/>
            <p:cNvSpPr/>
            <p:nvPr/>
          </p:nvSpPr>
          <p:spPr>
            <a:xfrm rot="2700000" flipH="1">
              <a:off x="403" y="-1319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2724785" y="991235"/>
            <a:ext cx="6658610" cy="2691765"/>
            <a:chOff x="4291" y="1561"/>
            <a:chExt cx="10486" cy="4239"/>
          </a:xfrm>
        </p:grpSpPr>
        <p:sp>
          <p:nvSpPr>
            <p:cNvPr id="34" name="文本框 33"/>
            <p:cNvSpPr txBox="1"/>
            <p:nvPr/>
          </p:nvSpPr>
          <p:spPr>
            <a:xfrm>
              <a:off x="4291" y="4202"/>
              <a:ext cx="10486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6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三</a:t>
              </a:r>
              <a:r>
                <a:rPr lang="en-US" altLang="zh-CN" sz="6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、</a:t>
              </a:r>
              <a:r>
                <a:rPr lang="zh-CN" altLang="en-US" sz="6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测试覆盖率</a:t>
              </a:r>
              <a:endParaRPr lang="zh-CN" altLang="en-US" sz="60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sym typeface="+mn-ea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8459" y="1561"/>
              <a:ext cx="2150" cy="2052"/>
              <a:chOff x="8884" y="1621"/>
              <a:chExt cx="2150" cy="2052"/>
            </a:xfrm>
          </p:grpSpPr>
          <p:sp>
            <p:nvSpPr>
              <p:cNvPr id="13" name="直角三角形 12"/>
              <p:cNvSpPr/>
              <p:nvPr/>
            </p:nvSpPr>
            <p:spPr>
              <a:xfrm rot="2700000" flipH="1">
                <a:off x="8933" y="1621"/>
                <a:ext cx="2052" cy="2052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51" name="等腰三角形 50"/>
              <p:cNvSpPr/>
              <p:nvPr/>
            </p:nvSpPr>
            <p:spPr>
              <a:xfrm flipV="1">
                <a:off x="8884" y="2319"/>
                <a:ext cx="2151" cy="1355"/>
              </a:xfrm>
              <a:prstGeom prst="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  <p:sp>
          <p:nvSpPr>
            <p:cNvPr id="15" name="文本框 14"/>
            <p:cNvSpPr txBox="1"/>
            <p:nvPr/>
          </p:nvSpPr>
          <p:spPr>
            <a:xfrm>
              <a:off x="8948" y="2171"/>
              <a:ext cx="1174" cy="10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3600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03</a:t>
              </a:r>
              <a:endParaRPr lang="en-US" altLang="zh-CN" sz="3600" dirty="0">
                <a:solidFill>
                  <a:schemeClr val="bg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9057005" y="5485130"/>
            <a:ext cx="4485640" cy="2734945"/>
            <a:chOff x="16183" y="9681"/>
            <a:chExt cx="4304" cy="2624"/>
          </a:xfrm>
        </p:grpSpPr>
        <p:sp>
          <p:nvSpPr>
            <p:cNvPr id="9" name="直角三角形 8"/>
            <p:cNvSpPr/>
            <p:nvPr/>
          </p:nvSpPr>
          <p:spPr>
            <a:xfrm rot="18900000" flipH="1" flipV="1">
              <a:off x="17863" y="9681"/>
              <a:ext cx="2624" cy="2624"/>
            </a:xfrm>
            <a:prstGeom prst="rtTriangle">
              <a:avLst/>
            </a:prstGeom>
            <a:solidFill>
              <a:schemeClr val="bg2">
                <a:lumMod val="85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  <p:sp>
          <p:nvSpPr>
            <p:cNvPr id="10" name="直角三角形 9"/>
            <p:cNvSpPr/>
            <p:nvPr/>
          </p:nvSpPr>
          <p:spPr>
            <a:xfrm rot="18900000" flipH="1" flipV="1">
              <a:off x="16183" y="9681"/>
              <a:ext cx="2624" cy="2624"/>
            </a:xfrm>
            <a:prstGeom prst="rtTriangle">
              <a:avLst/>
            </a:prstGeom>
            <a:solidFill>
              <a:srgbClr val="1C4F9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1C4F9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  <p:transition advTm="2000">
    <p:split orient="vert"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03505" y="0"/>
            <a:ext cx="12295505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3.1 </a:t>
            </a:r>
            <a:r>
              <a:t>测试要求与覆盖率标准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4800" y="591185"/>
          <a:ext cx="6080760" cy="289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665"/>
                <a:gridCol w="1757045"/>
                <a:gridCol w="1350645"/>
                <a:gridCol w="1081405"/>
              </a:tblGrid>
              <a:tr h="36131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要求类别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目标值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功能正确性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核心业务逻辑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100% 正确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已达成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Line Coverage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行覆盖率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≥ 80%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待提升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Method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方法覆盖率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≥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️ 待提升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Branch Coverage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分支覆盖率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≥ 70%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未达标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Class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类覆盖率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≥ 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️ 待提升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边界条件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边界值测试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全覆盖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️ 部分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1315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异常处理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异常路径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全覆盖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️ 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Isosceles Triangle 3"/>
          <p:cNvSpPr/>
          <p:nvPr/>
        </p:nvSpPr>
        <p:spPr>
          <a:xfrm>
            <a:off x="6854825" y="777240"/>
            <a:ext cx="3462655" cy="2697480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777240"/>
            <a:ext cx="4699635" cy="431165"/>
          </a:xfrm>
          <a:prstGeom prst="rect">
            <a:avLst/>
          </a:prstGeom>
          <a:solidFill>
            <a:srgbClr val="FFCDD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98920" y="841375"/>
            <a:ext cx="4576445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rPr sz="1000"/>
              <a:t>可靠性 — 无间歇性失败</a:t>
            </a:r>
            <a:endParaRPr sz="1000"/>
          </a:p>
        </p:txBody>
      </p:sp>
      <p:sp>
        <p:nvSpPr>
          <p:cNvPr id="7" name="Rectangle 6"/>
          <p:cNvSpPr/>
          <p:nvPr/>
        </p:nvSpPr>
        <p:spPr>
          <a:xfrm>
            <a:off x="6736080" y="1170305"/>
            <a:ext cx="4204970" cy="431165"/>
          </a:xfrm>
          <a:prstGeom prst="rect">
            <a:avLst/>
          </a:prstGeom>
          <a:solidFill>
            <a:srgbClr val="FFECB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1800" y="1234440"/>
            <a:ext cx="4081145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rPr sz="1000"/>
              <a:t>可重复性 — 任意次执行一致</a:t>
            </a:r>
            <a:endParaRPr sz="1000"/>
          </a:p>
        </p:txBody>
      </p:sp>
      <p:sp>
        <p:nvSpPr>
          <p:cNvPr id="9" name="Rectangle 8"/>
          <p:cNvSpPr/>
          <p:nvPr/>
        </p:nvSpPr>
        <p:spPr>
          <a:xfrm>
            <a:off x="6918960" y="1563370"/>
            <a:ext cx="3710305" cy="431165"/>
          </a:xfrm>
          <a:prstGeom prst="rect">
            <a:avLst/>
          </a:prstGeom>
          <a:solidFill>
            <a:srgbClr val="FFE0B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4680" y="1627505"/>
            <a:ext cx="3586480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独立性 — 测试间无依赖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01840" y="1957070"/>
            <a:ext cx="3215640" cy="431165"/>
          </a:xfrm>
          <a:prstGeom prst="rect">
            <a:avLst/>
          </a:prstGeom>
          <a:solidFill>
            <a:srgbClr val="FEE0B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47560" y="2020570"/>
            <a:ext cx="3091815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快速执行 — 秒级完成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2350135"/>
            <a:ext cx="2720975" cy="431165"/>
          </a:xfrm>
          <a:prstGeom prst="rect">
            <a:avLst/>
          </a:prstGeom>
          <a:solidFill>
            <a:srgbClr val="C8E6C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30440" y="2414270"/>
            <a:ext cx="2597150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可读性强 — 命名清晰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67600" y="2743200"/>
            <a:ext cx="2226310" cy="431165"/>
          </a:xfrm>
          <a:prstGeom prst="rect">
            <a:avLst/>
          </a:prstGeom>
          <a:solidFill>
            <a:srgbClr val="B3E5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320" y="2807335"/>
            <a:ext cx="2102485" cy="2609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850" b="0">
                <a:solidFill>
                  <a:srgbClr val="000000"/>
                </a:solidFill>
                <a:latin typeface="微软雅黑" panose="020B0503020204020204" pitchFamily="34" charset="-122"/>
              </a:defRPr>
            </a:pPr>
            <a:r>
              <a:t>全面性与针对性平衡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6100" y="3474720"/>
            <a:ext cx="11042650" cy="3371850"/>
          </a:xfrm>
          <a:prstGeom prst="roundRect">
            <a:avLst/>
          </a:prstGeom>
          <a:solidFill>
            <a:srgbClr val="2D2D2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4040" y="3547872"/>
            <a:ext cx="36576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F59B"/>
                </a:solidFill>
                <a:latin typeface="微软雅黑" panose="020B0503020204020204" pitchFamily="34" charset="-122"/>
              </a:defRPr>
            </a:pPr>
            <a:r>
              <a:t>Jacoco 配置 (build.gradle.kts)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9720" y="3840480"/>
            <a:ext cx="8981440" cy="26981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900" b="0">
                <a:solidFill>
                  <a:srgbClr val="DDDDDD"/>
                </a:solidFill>
                <a:latin typeface="Consolas" panose="020B0609020204030204"/>
              </a:defRPr>
            </a:pPr>
            <a:r>
              <a:rPr sz="1000"/>
              <a:t>android {</a:t>
            </a:r>
            <a:br>
              <a:rPr sz="1000"/>
            </a:br>
            <a:r>
              <a:rPr sz="1000"/>
              <a:t>    buildTypes {</a:t>
            </a:r>
            <a:br>
              <a:rPr sz="1000"/>
            </a:br>
            <a:r>
              <a:rPr sz="1000"/>
              <a:t>        debug {</a:t>
            </a:r>
            <a:br>
              <a:rPr sz="1000"/>
            </a:br>
            <a:r>
              <a:rPr sz="1000"/>
              <a:t>            enableUnitTestCoverage = true</a:t>
            </a:r>
            <a:br>
              <a:rPr sz="1000"/>
            </a:br>
            <a:r>
              <a:rPr sz="1000"/>
              <a:t>            enableAndroidTestCoverage = true</a:t>
            </a:r>
            <a:br>
              <a:rPr sz="1000"/>
            </a:br>
            <a:r>
              <a:rPr sz="1000"/>
              <a:t>        }</a:t>
            </a:r>
            <a:br>
              <a:rPr sz="1000"/>
            </a:br>
            <a:r>
              <a:rPr sz="1000"/>
              <a:t>    }</a:t>
            </a:r>
            <a:br>
              <a:rPr sz="1000"/>
            </a:br>
            <a:r>
              <a:rPr sz="1000"/>
              <a:t>}</a:t>
            </a:r>
            <a:br>
              <a:rPr sz="1000"/>
            </a:br>
            <a:br>
              <a:rPr sz="1000"/>
            </a:br>
            <a:r>
              <a:rPr sz="1000"/>
              <a:t>排除规则:</a:t>
            </a:r>
            <a:br>
              <a:rPr sz="1000"/>
            </a:br>
            <a:r>
              <a:rPr sz="1000"/>
              <a:t>   • 自动生成代码 (BuildConfig, R类, DataBinding)</a:t>
            </a:r>
            <a:br>
              <a:rPr sz="1000"/>
            </a:br>
            <a:r>
              <a:rPr sz="1000"/>
              <a:t>   • 接口默认方法</a:t>
            </a:r>
            <a:br>
              <a:rPr sz="1000"/>
            </a:br>
            <a:r>
              <a:rPr lang="en-US" sz="1000"/>
              <a:t>   </a:t>
            </a:r>
            <a:r>
              <a:rPr sz="1000"/>
              <a:t>• 仅含 getter/setter 的简单数据类</a:t>
            </a:r>
            <a:br>
              <a:rPr sz="1000"/>
            </a:br>
            <a:br>
              <a:rPr sz="1000"/>
            </a:br>
            <a:r>
              <a:rPr sz="1000"/>
              <a:t> 生成命令:</a:t>
            </a:r>
            <a:br>
              <a:rPr sz="1000"/>
            </a:br>
            <a:r>
              <a:rPr sz="1000"/>
              <a:t>   ./gradlew testDebugUnitTestJacocoReport</a:t>
            </a:r>
            <a:br>
              <a:rPr sz="1000"/>
            </a:br>
            <a:r>
              <a:rPr sz="1000"/>
              <a:t>   ./gradlew createDebugCoverageReport</a:t>
            </a:r>
            <a:endParaRPr sz="1000"/>
          </a:p>
        </p:txBody>
      </p:sp>
    </p:spTree>
  </p:cSld>
  <p:clrMapOvr>
    <a:masterClrMapping/>
  </p:clrMapOvr>
  <p:transition advTm="2000">
    <p:wedg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覆盖率总览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560320" cy="2286000"/>
          </a:xfrm>
          <a:prstGeom prst="roundRect">
            <a:avLst/>
          </a:prstGeom>
          <a:solidFill>
            <a:srgbClr val="F0F0F0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78308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类覆盖率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286000"/>
            <a:ext cx="23774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B050"/>
                </a:solidFill>
              </a:defRPr>
            </a:pPr>
            <a:r>
              <a:t>92.3%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20040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155/168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560320" cy="2286000"/>
          </a:xfrm>
          <a:prstGeom prst="roundRect">
            <a:avLst/>
          </a:prstGeom>
          <a:solidFill>
            <a:srgbClr val="F0F0F0"/>
          </a:solidFill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8308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方法覆盖率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3774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C000"/>
                </a:solidFill>
              </a:defRPr>
            </a:pPr>
            <a:r>
              <a:t>63.7%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20040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295/463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2560320" cy="2286000"/>
          </a:xfrm>
          <a:prstGeom prst="roundRect">
            <a:avLst/>
          </a:prstGeom>
          <a:solidFill>
            <a:srgbClr val="F0F0F0"/>
          </a:solidFill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178308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分支覆盖率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2286000"/>
            <a:ext cx="23774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0000"/>
                </a:solidFill>
              </a:defRPr>
            </a:pPr>
            <a:r>
              <a:t>17.7%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799" y="320040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117/660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3999" y="1645920"/>
            <a:ext cx="2560320" cy="2286000"/>
          </a:xfrm>
          <a:prstGeom prst="roundRect">
            <a:avLst/>
          </a:prstGeom>
          <a:solidFill>
            <a:srgbClr val="F0F0F0"/>
          </a:solidFill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39" y="178308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95959"/>
                </a:solidFill>
              </a:defRPr>
            </a:pPr>
            <a:r>
              <a:t>行覆盖率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39" y="2286000"/>
            <a:ext cx="237743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C000"/>
                </a:solidFill>
              </a:defRPr>
            </a:pPr>
            <a:r>
              <a:t>54.4%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3200400"/>
            <a:ext cx="23774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08080"/>
                </a:solidFill>
              </a:defRPr>
            </a:pPr>
            <a:r>
              <a:t>1160/2131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11277295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F497D"/>
                </a:solidFill>
              </a:defRPr>
            </a:pPr>
            <a:r>
              <a:rPr sz="1400" dirty="0" err="1">
                <a:latin typeface="+mj-lt"/>
              </a:rPr>
              <a:t>项目整体覆盖率分析</a:t>
            </a:r>
            <a:r>
              <a:rPr sz="1400" dirty="0">
                <a:latin typeface="+mj-lt"/>
              </a:rPr>
              <a:t>:</a:t>
            </a:r>
            <a:endParaRPr sz="1400" dirty="0">
              <a:latin typeface="+mj-lt"/>
            </a:endParaRPr>
          </a:p>
          <a:p>
            <a:pPr>
              <a:spcBef>
                <a:spcPts val="400"/>
              </a:spcBef>
              <a:defRPr sz="1400">
                <a:solidFill>
                  <a:srgbClr val="008000"/>
                </a:solidFill>
              </a:defRPr>
            </a:pPr>
            <a:r>
              <a:rPr sz="1400" dirty="0">
                <a:latin typeface="+mj-lt"/>
              </a:rPr>
              <a:t>✓ </a:t>
            </a:r>
            <a:r>
              <a:rPr sz="1400" dirty="0" err="1">
                <a:latin typeface="+mj-lt"/>
              </a:rPr>
              <a:t>类覆盖率表现优秀</a:t>
            </a:r>
            <a:r>
              <a:rPr sz="1400" dirty="0">
                <a:latin typeface="+mj-lt"/>
              </a:rPr>
              <a:t> (92.3%)，</a:t>
            </a:r>
            <a:r>
              <a:rPr sz="1400" dirty="0" err="1">
                <a:latin typeface="+mj-lt"/>
              </a:rPr>
              <a:t>大部分类已被测试覆盖</a:t>
            </a:r>
            <a:endParaRPr sz="1400" dirty="0">
              <a:latin typeface="+mj-lt"/>
            </a:endParaRPr>
          </a:p>
          <a:p>
            <a:pPr>
              <a:spcBef>
                <a:spcPts val="400"/>
              </a:spcBef>
              <a:defRPr sz="1400">
                <a:solidFill>
                  <a:srgbClr val="FF8000"/>
                </a:solidFill>
              </a:defRPr>
            </a:pP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方法覆盖率中等</a:t>
            </a:r>
            <a:r>
              <a:rPr sz="1400" dirty="0">
                <a:latin typeface="+mj-lt"/>
              </a:rPr>
              <a:t> (63.7%)，</a:t>
            </a:r>
            <a:r>
              <a:rPr sz="1400" dirty="0" err="1">
                <a:latin typeface="+mj-lt"/>
              </a:rPr>
              <a:t>需要增加更多测试方法</a:t>
            </a:r>
            <a:endParaRPr lang="en-US" sz="1400" dirty="0">
              <a:latin typeface="+mj-lt"/>
            </a:endParaRPr>
          </a:p>
          <a:p>
            <a:pPr>
              <a:spcBef>
                <a:spcPts val="400"/>
              </a:spcBef>
              <a:defRPr sz="1400">
                <a:solidFill>
                  <a:srgbClr val="FF8000"/>
                </a:solidFill>
              </a:defRPr>
            </a:pPr>
            <a:r>
              <a:rPr lang="zh-CN" altLang="en-US" sz="1400" dirty="0">
                <a:latin typeface="+mj-lt"/>
              </a:rPr>
              <a:t>集成测试未计入报告中</a:t>
            </a:r>
            <a:endParaRPr sz="1400" dirty="0">
              <a:latin typeface="+mj-lt"/>
            </a:endParaRPr>
          </a:p>
          <a:p>
            <a:pPr>
              <a:spcBef>
                <a:spcPts val="400"/>
              </a:spcBef>
              <a:defRPr sz="1400">
                <a:solidFill>
                  <a:srgbClr val="FF8000"/>
                </a:solidFill>
              </a:defRPr>
            </a:pPr>
            <a:r>
              <a:rPr sz="1400" dirty="0">
                <a:latin typeface="+mj-lt"/>
              </a:rPr>
              <a:t> </a:t>
            </a:r>
            <a:r>
              <a:rPr sz="1400" dirty="0" err="1">
                <a:latin typeface="+mj-lt"/>
              </a:rPr>
              <a:t>行覆盖率中等</a:t>
            </a:r>
            <a:r>
              <a:rPr sz="1400" dirty="0">
                <a:latin typeface="+mj-lt"/>
              </a:rPr>
              <a:t> (54.4%)，</a:t>
            </a:r>
            <a:r>
              <a:rPr sz="1400" dirty="0" err="1">
                <a:latin typeface="+mj-lt"/>
              </a:rPr>
              <a:t>建议提高测试广度</a:t>
            </a:r>
            <a:endParaRPr lang="en-US" sz="1400" dirty="0">
              <a:latin typeface="+mj-lt"/>
            </a:endParaRPr>
          </a:p>
        </p:txBody>
      </p:sp>
    </p:spTree>
  </p:cSld>
  <p:clrMapOvr>
    <a:masterClrMapping/>
  </p:clrMapOvr>
  <p:transition advTm="2000">
    <p:wedg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包覆盖率详细分析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1371600"/>
                <a:gridCol w="1371600"/>
                <a:gridCol w="1371600"/>
                <a:gridCol w="1676095"/>
              </a:tblGrid>
              <a:tr h="37882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包名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类%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方法%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分支%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行%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0000"/>
                          </a:solidFill>
                        </a:defRPr>
                      </a:pPr>
                      <a:r>
                        <a:t>✗ 待改进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0000"/>
                          </a:solidFill>
                        </a:defRPr>
                      </a:pPr>
                      <a:r>
                        <a:t>✗ 待改进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org.fossify.math.adapters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46.7%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43.4%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8000"/>
                          </a:solidFill>
                        </a:defRPr>
                      </a:pPr>
                      <a:r>
                        <a:t>⚠ 中等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org.fossify.math.compose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0000"/>
                          </a:solidFill>
                        </a:defRPr>
                      </a:pPr>
                      <a:r>
                        <a:t>✗ 待改进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org.fossify.math.databases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65.5%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8000"/>
                          </a:solidFill>
                        </a:defRPr>
                      </a:pPr>
                      <a:r>
                        <a:t>✓ 优秀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org.fossify.math.dialogs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0000"/>
                          </a:solidFill>
                        </a:defRPr>
                      </a:pPr>
                      <a:r>
                        <a:t>✗ 待改进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org.fossify.math.extensions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22.2%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28.6%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8000"/>
                          </a:solidFill>
                        </a:defRPr>
                      </a:pPr>
                      <a:r>
                        <a:t>⚠ 中等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org.fossify.math.helpers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8000"/>
                          </a:solidFill>
                        </a:defRPr>
                      </a:pPr>
                      <a:r>
                        <a:t>⚠ 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org.fossify.math.helpers.converters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99.2%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99.1%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8000"/>
                          </a:solidFill>
                        </a:defRPr>
                      </a:pPr>
                      <a:r>
                        <a:t>✓ 优秀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org.fossify.math.interfaces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8000"/>
                          </a:solidFill>
                        </a:defRPr>
                      </a:pPr>
                      <a:r>
                        <a:t>✓ 优秀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org.fossify.math.models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08000"/>
                          </a:solidFill>
                        </a:defRPr>
                      </a:pPr>
                      <a:r>
                        <a:t>✓ 优秀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org.fossify.math.receivers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8000"/>
                          </a:solidFill>
                        </a:defRPr>
                      </a:pPr>
                      <a:r>
                        <a:t>⚠ 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34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org.fossify.math.views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0000"/>
                          </a:solidFill>
                        </a:defRPr>
                      </a:pPr>
                      <a:r>
                        <a:t>✗ 待改进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advTm="2000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测试覆盖率亮点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10911535" cy="10972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org.fossify.math.helpers.converters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258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000"/>
                </a:solidFill>
              </a:defRPr>
            </a:pPr>
            <a:r>
              <a:t>99.1%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95959"/>
                </a:solidFill>
              </a:defRPr>
            </a:pPr>
            <a:r>
              <a:t>转换器模块测试覆盖最完善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911535" cy="10972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org.fossify.math.models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000"/>
                </a:solidFill>
              </a:defRPr>
            </a:pPr>
            <a: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95959"/>
                </a:solidFill>
              </a:defRPr>
            </a:pPr>
            <a:r>
              <a:t>数据模型测试完全覆盖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49039"/>
            <a:ext cx="10911535" cy="10972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org.fossify.math.interfaces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000"/>
                </a:solidFill>
              </a:defRPr>
            </a:pPr>
            <a: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95959"/>
                </a:solidFill>
              </a:defRPr>
            </a:pPr>
            <a:r>
              <a:t>接口定义测试充分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11535" cy="10972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org.fossify.math.databases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166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000"/>
                </a:solidFill>
              </a:defRPr>
            </a:pPr>
            <a:r>
              <a:t>65.5%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235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95959"/>
                </a:solidFill>
              </a:defRPr>
            </a:pPr>
            <a:r>
              <a:t>数据库层测试良好</a:t>
            </a:r>
          </a:p>
        </p:txBody>
      </p:sp>
    </p:spTree>
  </p:cSld>
  <p:clrMapOvr>
    <a:masterClrMapping/>
  </p:clrMapOvr>
  <p:transition advTm="2000">
    <p:wedg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改进建议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优先级高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org.fossify.math.views: 0% → 需要完整的UI组件测试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org.fossify.math.compose: 0% → Compose组件需要测试覆盖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org.fossify.math.dialogs: 0% → 对话框交互测试缺失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79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000"/>
                </a:solidFill>
              </a:defRPr>
            </a:pPr>
            <a:r>
              <a:t>优先级中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79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org.fossify.math.activities: 18.6% → 增加Activity生命周期测试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org.fossify.math: 0% → 核心应用类需要测试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分支覆盖率: 17.7% → 增加边界条件和异常路径测试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优先级低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org.fossify.math.helpers: 45% → 补充辅助工具测试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778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95959"/>
                </a:solidFill>
              </a:defRPr>
            </a:pPr>
            <a:r>
              <a:t>• org.fossify.math.extensions: 28.6% → 增加扩展函数测试</a:t>
            </a:r>
          </a:p>
        </p:txBody>
      </p:sp>
    </p:spTree>
  </p:cSld>
  <p:clrMapOvr>
    <a:masterClrMapping/>
  </p:clrMapOvr>
  <p:transition advTm="2000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497D"/>
                </a:solidFill>
              </a:defRPr>
            </a:pPr>
            <a:r>
              <a:t>1. 项目整体状态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95959"/>
                </a:solidFill>
              </a:defRPr>
            </a:pPr>
            <a:r>
              <a:t>测试覆盖率为 54.4%，处于中等水平，核心业务逻辑测试较完善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497D"/>
                </a:solidFill>
              </a:defRPr>
            </a:pPr>
            <a:r>
              <a:t>2. 优势领域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95959"/>
                </a:solidFill>
              </a:defRPr>
            </a:pPr>
            <a:r>
              <a:t>转换器模块(99.1%)、模型层(100%)、接口层(98%)测试充分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497D"/>
                </a:solidFill>
              </a:defRPr>
            </a:pPr>
            <a:r>
              <a:t>3. 待改进领域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95959"/>
                </a:solidFill>
              </a:defRPr>
            </a:pPr>
            <a:r>
              <a:t>UI组件(Views/Compose)、Activity、分支覆盖率需要重点提升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497D"/>
                </a:solidFill>
              </a:defRPr>
            </a:pPr>
            <a:r>
              <a:t>4. 建议目标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95959"/>
                </a:solidFill>
              </a:defRPr>
            </a:pPr>
            <a:r>
              <a:t>将整体行覆盖率提升至70%以上，分支覆盖率提升至40%以上</a:t>
            </a:r>
          </a:p>
        </p:txBody>
      </p:sp>
    </p:spTree>
  </p:cSld>
  <p:clrMapOvr>
    <a:masterClrMapping/>
  </p:clrMapOvr>
  <p:transition advTm="2000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ctr">
              <a:defRPr sz="2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3.2 </a:t>
            </a:r>
            <a:r>
              <a:t>覆盖率统计与模块分析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44040" y="713232"/>
            <a:ext cx="2057400" cy="9601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89759" y="768096"/>
            <a:ext cx="196596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9759" y="987552"/>
            <a:ext cx="196596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B8C00"/>
                </a:solidFill>
                <a:latin typeface="微软雅黑" panose="020B0503020204020204" pitchFamily="34" charset="-122"/>
              </a:defRPr>
            </a:pPr>
            <a:r>
              <a:t>78.4%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9759" y="1371600"/>
            <a:ext cx="196596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(131/167)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92880" y="713232"/>
            <a:ext cx="2057400" cy="9601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768096"/>
            <a:ext cx="196596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8600" y="987552"/>
            <a:ext cx="196596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62828"/>
                </a:solidFill>
                <a:latin typeface="微软雅黑" panose="020B0503020204020204" pitchFamily="34" charset="-122"/>
              </a:defRPr>
            </a:pPr>
            <a:r>
              <a:t>42.2%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1371600"/>
            <a:ext cx="196596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(191/453)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1720" y="713232"/>
            <a:ext cx="2057400" cy="9601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7440" y="768096"/>
            <a:ext cx="196596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7440" y="987552"/>
            <a:ext cx="196596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62828"/>
                </a:solidFill>
                <a:latin typeface="微软雅黑" panose="020B0503020204020204" pitchFamily="34" charset="-122"/>
              </a:defRPr>
            </a:pPr>
            <a: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7440" y="1371600"/>
            <a:ext cx="196596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(0/598)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0560" y="713232"/>
            <a:ext cx="2057400" cy="9601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280" y="768096"/>
            <a:ext cx="196596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80" y="987552"/>
            <a:ext cx="196596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62828"/>
                </a:solidFill>
                <a:latin typeface="微软雅黑" panose="020B0503020204020204" pitchFamily="34" charset="-122"/>
              </a:defRPr>
            </a:pPr>
            <a:r>
              <a:t>35.3%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80" y="1371600"/>
            <a:ext cx="196596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(746/2116)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33450" y="1767205"/>
          <a:ext cx="5802630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420"/>
                <a:gridCol w="738505"/>
                <a:gridCol w="791210"/>
                <a:gridCol w="738505"/>
                <a:gridCol w="738505"/>
                <a:gridCol w="1213485"/>
              </a:tblGrid>
              <a:tr h="3683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Class%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Method%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Branch%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Line%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9591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helpers.converters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99.2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96.4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98.2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✅ 优秀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helpers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12.5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⚠️ 待补充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❌ 未覆盖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views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❌ 未覆盖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306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databases/compose/adapters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❌ 未覆盖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其他 (6个包)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</a:defRPr>
                      </a:pPr>
                      <a:r>
                        <a:t>❌ 未覆盖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845935" y="1783080"/>
            <a:ext cx="3932555" cy="22479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为什么 converters 最高？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✓ 无 Android 依赖，纯 JVM 逻辑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✓ 策略模式优势，独立易测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✓ Roundtrip 一个方法覆盖全部单位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✓ BigDecimal 精确比对避免浮点误差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为什么其他模块低？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✗ activities/views 需要 Robolectric/Espresso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✗ databases 已有测试但未纳入 Jacoco</a:t>
            </a:r>
          </a:p>
          <a:p>
            <a:pPr>
              <a:spcAft>
                <a:spcPts val="400"/>
              </a:spcAft>
              <a:defRPr sz="85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•   ✗ compose 需要 Compose Testing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085" y="4023360"/>
            <a:ext cx="9844405" cy="1653540"/>
          </a:xfrm>
          <a:prstGeom prst="roundRect">
            <a:avLst/>
          </a:prstGeom>
          <a:solidFill>
            <a:srgbClr val="F8F9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97025" y="4087495"/>
            <a:ext cx="3141980" cy="3162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>
                <a:solidFill>
                  <a:srgbClr val="1976D2"/>
                </a:solidFill>
                <a:latin typeface="微软雅黑" panose="020B0503020204020204" pitchFamily="34" charset="-122"/>
              </a:defRPr>
            </a:pPr>
            <a:r>
              <a:rPr sz="1600"/>
              <a:t>各模块行覆盖率对比</a:t>
            </a:r>
            <a:endParaRPr sz="1600"/>
          </a:p>
        </p:txBody>
      </p:sp>
      <p:sp>
        <p:nvSpPr>
          <p:cNvPr id="23" name="Rectangle 22"/>
          <p:cNvSpPr/>
          <p:nvPr/>
        </p:nvSpPr>
        <p:spPr>
          <a:xfrm>
            <a:off x="1566545" y="4389120"/>
            <a:ext cx="4113530" cy="329565"/>
          </a:xfrm>
          <a:prstGeom prst="rect">
            <a:avLst/>
          </a:prstGeom>
          <a:solidFill>
            <a:srgbClr val="43A0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36065" y="4663440"/>
            <a:ext cx="4503420" cy="266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helpers.converters: 98.2%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069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4785" y="4663440"/>
            <a:ext cx="4503420" cy="266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helpers: 0.2%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941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13505" y="4663440"/>
            <a:ext cx="4503420" cy="266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activities: 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813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225" y="4663440"/>
            <a:ext cx="4503420" cy="266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views: 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685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0945" y="4663440"/>
            <a:ext cx="4503420" cy="2660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databases: 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557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33359" y="4663440"/>
            <a:ext cx="3931920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compose: 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4295" y="4389120"/>
            <a:ext cx="80010" cy="329565"/>
          </a:xfrm>
          <a:prstGeom prst="rect">
            <a:avLst/>
          </a:prstGeom>
          <a:solidFill>
            <a:srgbClr val="C6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2079" y="4663440"/>
            <a:ext cx="3931920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24242"/>
                </a:solidFill>
                <a:latin typeface="微软雅黑" panose="020B0503020204020204" pitchFamily="34" charset="-122"/>
              </a:defRPr>
            </a:pPr>
            <a:r>
              <a:t>others: 0%</a:t>
            </a:r>
          </a:p>
        </p:txBody>
      </p:sp>
    </p:spTree>
  </p:cSld>
  <p:clrMapOvr>
    <a:masterClrMapping/>
  </p:clrMapOvr>
  <p:transition advTm="2000">
    <p:wedg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-1246505" y="-1269365"/>
            <a:ext cx="14789150" cy="9489440"/>
            <a:chOff x="-1963" y="-1999"/>
            <a:chExt cx="23290" cy="14944"/>
          </a:xfrm>
        </p:grpSpPr>
        <p:grpSp>
          <p:nvGrpSpPr>
            <p:cNvPr id="11" name="组合 10"/>
            <p:cNvGrpSpPr/>
            <p:nvPr/>
          </p:nvGrpSpPr>
          <p:grpSpPr>
            <a:xfrm>
              <a:off x="-1963" y="-1999"/>
              <a:ext cx="6600" cy="4024"/>
              <a:chOff x="-1277" y="-1319"/>
              <a:chExt cx="4304" cy="2624"/>
            </a:xfrm>
          </p:grpSpPr>
          <p:sp>
            <p:nvSpPr>
              <p:cNvPr id="3" name="直角三角形 2"/>
              <p:cNvSpPr/>
              <p:nvPr/>
            </p:nvSpPr>
            <p:spPr>
              <a:xfrm rot="2700000" flipH="1">
                <a:off x="-1277" y="-1319"/>
                <a:ext cx="2624" cy="2624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30" name="直角三角形 29"/>
              <p:cNvSpPr/>
              <p:nvPr/>
            </p:nvSpPr>
            <p:spPr>
              <a:xfrm rot="2700000" flipH="1">
                <a:off x="403" y="-1319"/>
                <a:ext cx="2624" cy="2624"/>
              </a:xfrm>
              <a:prstGeom prst="rtTriangle">
                <a:avLst/>
              </a:prstGeom>
              <a:solidFill>
                <a:srgbClr val="1C4F9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  <p:sp>
          <p:nvSpPr>
            <p:cNvPr id="34" name="文本框 33"/>
            <p:cNvSpPr txBox="1"/>
            <p:nvPr/>
          </p:nvSpPr>
          <p:spPr>
            <a:xfrm>
              <a:off x="4291" y="4202"/>
              <a:ext cx="10486" cy="2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sz="8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四</a:t>
              </a:r>
              <a:r>
                <a:rPr lang="en-US" altLang="zh-CN" sz="8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、</a:t>
              </a:r>
              <a:r>
                <a:rPr lang="zh-CN" altLang="en-US" sz="8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sym typeface="+mn-ea"/>
                </a:rPr>
                <a:t>系统测试</a:t>
              </a:r>
              <a:endParaRPr lang="zh-CN" altLang="en-US" sz="8000" b="1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sym typeface="+mn-ea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8459" y="1561"/>
              <a:ext cx="2150" cy="2052"/>
              <a:chOff x="8884" y="1621"/>
              <a:chExt cx="2150" cy="2052"/>
            </a:xfrm>
          </p:grpSpPr>
          <p:sp>
            <p:nvSpPr>
              <p:cNvPr id="13" name="直角三角形 12"/>
              <p:cNvSpPr/>
              <p:nvPr/>
            </p:nvSpPr>
            <p:spPr>
              <a:xfrm rot="2700000" flipH="1">
                <a:off x="8933" y="1621"/>
                <a:ext cx="2052" cy="2052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51" name="等腰三角形 50"/>
              <p:cNvSpPr/>
              <p:nvPr/>
            </p:nvSpPr>
            <p:spPr>
              <a:xfrm flipV="1">
                <a:off x="8884" y="2319"/>
                <a:ext cx="2151" cy="1355"/>
              </a:xfrm>
              <a:prstGeom prst="triangle">
                <a:avLst/>
              </a:prstGeom>
              <a:solidFill>
                <a:srgbClr val="1C4F9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  <p:sp>
          <p:nvSpPr>
            <p:cNvPr id="15" name="文本框 14"/>
            <p:cNvSpPr txBox="1"/>
            <p:nvPr/>
          </p:nvSpPr>
          <p:spPr>
            <a:xfrm>
              <a:off x="8948" y="2171"/>
              <a:ext cx="1174" cy="10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3600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04</a:t>
              </a:r>
              <a:endParaRPr lang="en-US" altLang="zh-CN" sz="3600" dirty="0">
                <a:solidFill>
                  <a:schemeClr val="bg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14263" y="8638"/>
              <a:ext cx="7064" cy="4307"/>
              <a:chOff x="16183" y="9681"/>
              <a:chExt cx="4304" cy="2624"/>
            </a:xfrm>
          </p:grpSpPr>
          <p:sp>
            <p:nvSpPr>
              <p:cNvPr id="9" name="直角三角形 8"/>
              <p:cNvSpPr/>
              <p:nvPr/>
            </p:nvSpPr>
            <p:spPr>
              <a:xfrm rot="18900000" flipH="1" flipV="1">
                <a:off x="17863" y="9681"/>
                <a:ext cx="2624" cy="2624"/>
              </a:xfrm>
              <a:prstGeom prst="rtTriangle">
                <a:avLst/>
              </a:prstGeom>
              <a:solidFill>
                <a:schemeClr val="bg2">
                  <a:lumMod val="85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  <p:sp>
            <p:nvSpPr>
              <p:cNvPr id="10" name="直角三角形 9"/>
              <p:cNvSpPr/>
              <p:nvPr/>
            </p:nvSpPr>
            <p:spPr>
              <a:xfrm rot="18900000" flipH="1" flipV="1">
                <a:off x="16183" y="9681"/>
                <a:ext cx="2624" cy="2624"/>
              </a:xfrm>
              <a:prstGeom prst="rtTriangle">
                <a:avLst/>
              </a:prstGeom>
              <a:solidFill>
                <a:srgbClr val="1C4F9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1C4F90"/>
                  </a:solidFill>
                </a:endParaRPr>
              </a:p>
            </p:txBody>
          </p:sp>
        </p:grpSp>
      </p:grpSp>
    </p:spTree>
    <p:custDataLst>
      <p:tags r:id="rId1"/>
    </p:custDataLst>
  </p:cSld>
  <p:clrMapOvr>
    <a:masterClrMapping/>
  </p:clrMapOvr>
  <p:transition advTm="2000">
    <p:diamond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  <a:ln w="12700">
            <a:solidFill>
              <a:srgbClr val="609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5528" y="30480"/>
            <a:ext cx="12120848" cy="533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4.3 SettingsActivity 内存监控验证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594360"/>
            <a:ext cx="12192000" cy="38100"/>
          </a:xfrm>
          <a:prstGeom prst="rect">
            <a:avLst/>
          </a:prstGeom>
          <a:solidFill>
            <a:srgbClr val="6096E6"/>
          </a:solidFill>
        </p:spPr>
      </p:sp>
      <p:pic>
        <p:nvPicPr>
          <p:cNvPr id="5" name="Image 0" descr="https://kimi-img.moonshot.cn/pub/slides/okc/fkgqnewwu6goi/mnt/agents/output/%E7%A7%BB%E5%8A%A8%E5%BA%94%E7%94%A8%E6%B5%8B%E8%AF%95PPT/images/profiler_telemetry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76250" y="809625"/>
            <a:ext cx="6286500" cy="3348038"/>
          </a:xfrm>
          <a:prstGeom prst="roundRect">
            <a:avLst>
              <a:gd name="adj" fmla="val 8000"/>
            </a:avLst>
          </a:prstGeom>
          <a:effectLst>
            <a:outerShdw blurRad="127000" dist="50800" dir="54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7000875" y="809625"/>
            <a:ext cx="47625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50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Android Profiler 实时监控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7000875" y="1219200"/>
            <a:ext cx="4762500" cy="1381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05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借助 Android Studio Profiler 的 </a:t>
            </a:r>
            <a:r>
              <a:rPr lang="en-US" sz="105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View Live Telemetry</a:t>
            </a:r>
            <a:r>
              <a:rPr lang="en-US" sz="105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功能，对 Fossify Calculator 的 </a:t>
            </a:r>
            <a:r>
              <a:rPr lang="en-US" sz="105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SettingsActivity</a:t>
            </a:r>
            <a:r>
              <a:rPr lang="en-US" sz="105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进行内存实时监视。</a:t>
            </a:r>
            <a:endParaRPr lang="en-US" sz="1050" dirty="0"/>
          </a:p>
          <a:p>
            <a:pPr algn="l">
              <a:lnSpc>
                <a:spcPct val="160000"/>
              </a:lnSpc>
              <a:spcBef>
                <a:spcPts val="600"/>
              </a:spcBef>
            </a:pPr>
            <a:r>
              <a:rPr lang="en-US" sz="105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测试覆盖设置项切换、页面进出等典型用户操作场景，持续采集内存使用数据。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000875" y="2647950"/>
            <a:ext cx="4762500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监控数据概览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00875" y="2952750"/>
            <a:ext cx="4762500" cy="10477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01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Total: 80.5 MB | Java: 7.7 MB | Native: 20.4 MB</a:t>
            </a:r>
            <a:endParaRPr lang="en-US" sz="1015" dirty="0"/>
          </a:p>
          <a:p>
            <a:pPr algn="l">
              <a:lnSpc>
                <a:spcPct val="155000"/>
              </a:lnSpc>
            </a:pPr>
            <a:r>
              <a:rPr lang="en-US" sz="101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Graphics: 0 B | Stack: 492 KB | Code: 39.4 MB</a:t>
            </a:r>
            <a:endParaRPr lang="en-US" sz="1015" dirty="0"/>
          </a:p>
          <a:p>
            <a:pPr algn="l">
              <a:lnSpc>
                <a:spcPct val="155000"/>
              </a:lnSpc>
            </a:pPr>
            <a:r>
              <a:rPr lang="en-US" sz="101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App CPU: 0% | Threads: 22</a:t>
            </a:r>
            <a:endParaRPr lang="en-US" sz="1015" dirty="0"/>
          </a:p>
          <a:p>
            <a:pPr algn="l">
              <a:lnSpc>
                <a:spcPct val="155000"/>
              </a:lnSpc>
              <a:spcBef>
                <a:spcPts val="400"/>
              </a:spcBef>
            </a:pPr>
            <a:r>
              <a:rPr lang="en-US" sz="1015" b="1" dirty="0">
                <a:solidFill>
                  <a:srgbClr val="4CAF5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内存曲线平稳，无持续增长趋势</a:t>
            </a:r>
            <a:endParaRPr lang="en-US" sz="1015" dirty="0"/>
          </a:p>
        </p:txBody>
      </p:sp>
      <p:pic>
        <p:nvPicPr>
          <p:cNvPr id="10" name="Image 1" descr="https://kimi-img.moonshot.cn/pub/slides/okc/fkgqnewwu6goi/mnt/agents/output/%E7%A7%BB%E5%8A%A8%E5%BA%94%E7%94%A8%E6%B5%8B%E8%AF%95PPT/images/profiler_menu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000875" y="4095750"/>
            <a:ext cx="1123950" cy="2381250"/>
          </a:xfrm>
          <a:prstGeom prst="roundRect">
            <a:avLst>
              <a:gd name="adj" fmla="val 8000"/>
            </a:avLst>
          </a:prstGeom>
          <a:effectLst>
            <a:outerShdw blurRad="76200" dist="38100" dir="5400000" algn="bl" rotWithShape="0">
              <a:srgbClr val="000000">
                <a:alpha val="13333"/>
              </a:srgbClr>
            </a:outerShdw>
          </a:effectLst>
        </p:spPr>
      </p:pic>
      <p:pic>
        <p:nvPicPr>
          <p:cNvPr id="11" name="Image 2" descr="https://kimi-img.moonshot.cn/pub/slides/okc/fkgqnewwu6goi/mnt/agents/output/%E7%A7%BB%E5%8A%A8%E5%BA%94%E7%94%A8%E6%B5%8B%E8%AF%95PPT/images/profiler_setting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39125" y="4095750"/>
            <a:ext cx="1123950" cy="2381250"/>
          </a:xfrm>
          <a:prstGeom prst="roundRect">
            <a:avLst>
              <a:gd name="adj" fmla="val 8000"/>
            </a:avLst>
          </a:prstGeom>
          <a:effectLst>
            <a:outerShdw blurRad="76200" dist="38100" dir="5400000" algn="bl" rotWithShape="0">
              <a:srgbClr val="000000">
                <a:alpha val="13333"/>
              </a:srgbClr>
            </a:outerShdw>
          </a:effectLst>
        </p:spPr>
      </p:pic>
      <p:sp>
        <p:nvSpPr>
          <p:cNvPr id="12" name="Text 7"/>
          <p:cNvSpPr/>
          <p:nvPr/>
        </p:nvSpPr>
        <p:spPr>
          <a:xfrm>
            <a:off x="7000875" y="6524625"/>
            <a:ext cx="1123950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打开设置菜单</a:t>
            </a:r>
            <a:endParaRPr lang="en-US" sz="825" dirty="0"/>
          </a:p>
        </p:txBody>
      </p:sp>
      <p:sp>
        <p:nvSpPr>
          <p:cNvPr id="13" name="Text 8"/>
          <p:cNvSpPr/>
          <p:nvPr/>
        </p:nvSpPr>
        <p:spPr>
          <a:xfrm>
            <a:off x="8239125" y="6524625"/>
            <a:ext cx="1123950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SettingsActivity</a:t>
            </a:r>
            <a:endParaRPr lang="en-US" sz="825" dirty="0"/>
          </a:p>
        </p:txBody>
      </p:sp>
      <p:sp>
        <p:nvSpPr>
          <p:cNvPr id="14" name="Shape 9"/>
          <p:cNvSpPr/>
          <p:nvPr/>
        </p:nvSpPr>
        <p:spPr>
          <a:xfrm>
            <a:off x="476250" y="4762500"/>
            <a:ext cx="6286500" cy="523875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7700" y="48958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4CAF50"/>
          </a:solidFill>
        </p:spPr>
      </p:sp>
      <p:sp>
        <p:nvSpPr>
          <p:cNvPr id="16" name="Text 11"/>
          <p:cNvSpPr/>
          <p:nvPr/>
        </p:nvSpPr>
        <p:spPr>
          <a:xfrm>
            <a:off x="1000125" y="4762500"/>
            <a:ext cx="5619750" cy="523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25" b="1" dirty="0">
                <a:solidFill>
                  <a:srgbClr val="2E7D32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验证结论：</a:t>
            </a:r>
            <a:r>
              <a:rPr lang="en-US" sz="1125" dirty="0">
                <a:solidFill>
                  <a:srgbClr val="2E7D32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SettingsActivity 内存曲线平稳，进出页面后内存正常回落，</a:t>
            </a:r>
            <a:endParaRPr lang="en-US" sz="1125" dirty="0"/>
          </a:p>
          <a:p>
            <a:pPr algn="l">
              <a:lnSpc>
                <a:spcPct val="120000"/>
              </a:lnSpc>
            </a:pPr>
            <a:r>
              <a:rPr lang="en-US" sz="1125" dirty="0">
                <a:solidFill>
                  <a:srgbClr val="2E7D32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未发现明显内存泄漏，LeakCanary 无泄漏提醒。</a:t>
            </a:r>
            <a:endParaRPr lang="en-US" sz="1125" dirty="0"/>
          </a:p>
        </p:txBody>
      </p:sp>
      <p:sp>
        <p:nvSpPr>
          <p:cNvPr id="17" name="Shape 12"/>
          <p:cNvSpPr/>
          <p:nvPr/>
        </p:nvSpPr>
        <p:spPr>
          <a:xfrm>
            <a:off x="9620250" y="4095750"/>
            <a:ext cx="2286000" cy="238125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715500" y="4191000"/>
            <a:ext cx="2095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25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测试步骤</a:t>
            </a:r>
            <a:endParaRPr lang="en-US" sz="1125" dirty="0"/>
          </a:p>
        </p:txBody>
      </p:sp>
      <p:sp>
        <p:nvSpPr>
          <p:cNvPr id="19" name="Text 14"/>
          <p:cNvSpPr/>
          <p:nvPr/>
        </p:nvSpPr>
        <p:spPr>
          <a:xfrm>
            <a:off x="9715500" y="4495800"/>
            <a:ext cx="2095500" cy="1885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1.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启动 Profiler 连接设备</a:t>
            </a:r>
            <a:endParaRPr lang="en-US" sz="940" dirty="0"/>
          </a:p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2.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打开 View Live Telemetry</a:t>
            </a:r>
            <a:endParaRPr lang="en-US" sz="940" dirty="0"/>
          </a:p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3.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进入 SettingsActivity</a:t>
            </a:r>
            <a:endParaRPr lang="en-US" sz="940" dirty="0"/>
          </a:p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4.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切换各项设置</a:t>
            </a:r>
            <a:endParaRPr lang="en-US" sz="940" dirty="0"/>
          </a:p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5.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返回主界面</a:t>
            </a:r>
            <a:endParaRPr lang="en-US" sz="940" dirty="0"/>
          </a:p>
          <a:p>
            <a:pPr algn="l">
              <a:lnSpc>
                <a:spcPct val="160000"/>
              </a:lnSpc>
            </a:pPr>
            <a:r>
              <a:rPr lang="en-US" sz="940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6.</a:t>
            </a:r>
            <a:r>
              <a:rPr lang="en-US" sz="940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 观察内存曲线变化</a:t>
            </a:r>
            <a:endParaRPr lang="en-US" sz="940" dirty="0"/>
          </a:p>
          <a:p>
            <a:pPr algn="l">
              <a:lnSpc>
                <a:spcPct val="160000"/>
              </a:lnSpc>
            </a:pPr>
            <a:endParaRPr lang="en-US" sz="940" dirty="0"/>
          </a:p>
        </p:txBody>
      </p:sp>
    </p:spTree>
  </p:cSld>
  <p:clrMapOvr>
    <a:masterClrMapping/>
  </p:clrMapOvr>
  <p:transition advTm="2000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  <a:ln w="12700">
            <a:solidFill>
              <a:srgbClr val="609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5528" y="30480"/>
            <a:ext cx="12120848" cy="533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4.1 内存泄漏检测与分析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809625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100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LeakCanary 工具介绍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62000" y="1285875"/>
            <a:ext cx="5143500" cy="1381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LeakCanary 是 Square 开源的 Android 内存泄漏检测库，能够在应用运行时自动检测 Activity、Fragment 等组件的内存泄漏问题。</a:t>
            </a:r>
            <a:endParaRPr lang="en-US" sz="1125" dirty="0"/>
          </a:p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当检测到对象未被正常回收时，LeakCanary 会自动触发堆转储（Heap Dump），分析引用链并生成详细的泄漏报告。</a:t>
            </a:r>
            <a:endParaRPr lang="en-US" sz="1125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/>
        </p:nvGraphicFramePr>
        <p:xfrm>
          <a:off x="762000" y="2762250"/>
          <a:ext cx="5143500" cy="1857375"/>
        </p:xfrm>
        <a:graphic>
          <a:graphicData uri="http://schemas.openxmlformats.org/drawingml/2006/table">
            <a:tbl>
              <a:tblPr/>
              <a:tblGrid>
                <a:gridCol w="1440180"/>
                <a:gridCol w="3703320"/>
              </a:tblGrid>
              <a:tr h="371475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检测项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说明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90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检测目标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Activity / Fragment 等组件生命周期泄漏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检测原理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弱引用监控 + Heap Dump + 引用链分析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触发条件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 retained 对象超过阈值（默认5个）自动触发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输出结果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rgbClr val="595959"/>
                          </a:solidFill>
                          <a:latin typeface="思源宋体 CN Heavy" pitchFamily="34" charset="0"/>
                          <a:ea typeface="思源宋体 CN Heavy" panose="02020900000000000000" pitchFamily="18" charset="-122"/>
                          <a:cs typeface="思源宋体 CN Heavy" pitchFamily="34" charset="-120"/>
                        </a:rPr>
                        <a:t>系统通知栏提醒 + 详细泄漏分析报告</a:t>
                      </a:r>
                      <a:endParaRPr lang="en-US" sz="1050" dirty="0">
                        <a:latin typeface="思源宋体 CN Heavy" pitchFamily="34" charset="0"/>
                        <a:ea typeface="思源宋体 CN Heavy" pitchFamily="34" charset="0"/>
                        <a:cs typeface="思源宋体 CN Heavy" pitchFamily="34" charset="0"/>
                      </a:endParaRPr>
                    </a:p>
                  </a:txBody>
                  <a:tcPr marL="41148" marR="41148" marT="0" marB="0" anchor="ctr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77000" y="809625"/>
            <a:ext cx="4953000" cy="4286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100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测试方法与流程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77000" y="1285875"/>
            <a:ext cx="4953000" cy="33337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125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1. 集成 LeakCanary</a:t>
            </a:r>
            <a:endParaRPr lang="en-US" sz="1125" dirty="0"/>
          </a:p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在 build.gradle 中添加依赖，Application 类中初始化安装。</a:t>
            </a:r>
            <a:endParaRPr lang="en-US" sz="1125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25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2. 构造泄漏场景</a:t>
            </a:r>
            <a:endParaRPr lang="en-US" sz="1125" dirty="0"/>
          </a:p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打开测试页面，模拟 Activity 持有外部引用，关闭页面后制造内存泄漏。</a:t>
            </a:r>
            <a:endParaRPr lang="en-US" sz="1125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25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3. 触发检测</a:t>
            </a:r>
            <a:endParaRPr lang="en-US" sz="1125" dirty="0"/>
          </a:p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LeakCanary 自动监控对象回收状态，当 retained 对象达阈值时触发 Heap Dump。</a:t>
            </a:r>
            <a:endParaRPr lang="en-US" sz="1125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125" b="1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4. 分析结果</a:t>
            </a:r>
            <a:endParaRPr lang="en-US" sz="1125" dirty="0"/>
          </a:p>
          <a:p>
            <a:pPr algn="l">
              <a:lnSpc>
                <a:spcPct val="160000"/>
              </a:lnSpc>
            </a:pPr>
            <a:r>
              <a:rPr lang="en-US" sz="112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通过系统通知栏获取泄漏提醒，查看引用链定位泄漏根因。</a:t>
            </a:r>
            <a:endParaRPr lang="en-US" sz="1125" dirty="0"/>
          </a:p>
        </p:txBody>
      </p:sp>
    </p:spTree>
  </p:cSld>
  <p:clrMapOvr>
    <a:masterClrMapping/>
  </p:clrMapOvr>
  <p:transition advTm="2000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  <a:ln w="12700">
            <a:solidFill>
              <a:srgbClr val="609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5528" y="30480"/>
            <a:ext cx="12120848" cy="533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4.2 LeakCanary 泄漏检测实例</a:t>
            </a:r>
            <a:endParaRPr lang="en-US" sz="2800" dirty="0"/>
          </a:p>
        </p:txBody>
      </p:sp>
      <p:pic>
        <p:nvPicPr>
          <p:cNvPr id="5" name="Image 0" descr="https://kimi-img.moonshot.cn/pub/slides/okc/fkgqnewwu6goi/mnt/agents/output/%E7%A7%BB%E5%8A%A8%E5%BA%94%E7%94%A8%E6%B5%8B%E8%AF%95PPT/images/leakcanary_1.png"/>
          <p:cNvPicPr/>
          <p:nvPr/>
        </p:nvPicPr>
        <p:blipFill>
          <a:blip r:embed="rId1"/>
          <a:srcRect/>
          <a:stretch>
            <a:fillRect/>
          </a:stretch>
        </p:blipFill>
        <p:spPr>
          <a:xfrm>
            <a:off x="857250" y="1047750"/>
            <a:ext cx="2183130" cy="4000500"/>
          </a:xfrm>
          <a:prstGeom prst="roundRect">
            <a:avLst>
              <a:gd name="adj" fmla="val 8000"/>
            </a:avLst>
          </a:prstGeom>
          <a:effectLst>
            <a:outerShdw blurRad="127000" dist="50800" dir="5400000" algn="bl" rotWithShape="0">
              <a:srgbClr val="000000">
                <a:alpha val="20000"/>
              </a:srgbClr>
            </a:outerShdw>
          </a:effectLst>
        </p:spPr>
      </p:pic>
      <p:pic>
        <p:nvPicPr>
          <p:cNvPr id="6" name="Image 1" descr="https://kimi-img.moonshot.cn/pub/slides/okc/fkgqnewwu6goi/mnt/agents/output/%E7%A7%BB%E5%8A%A8%E5%BA%94%E7%94%A8%E6%B5%8B%E8%AF%95PPT/images/leakcanary_2.png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4762500" y="1047750"/>
            <a:ext cx="2184300" cy="4000500"/>
          </a:xfrm>
          <a:prstGeom prst="roundRect">
            <a:avLst>
              <a:gd name="adj" fmla="val 8000"/>
            </a:avLst>
          </a:prstGeom>
          <a:effectLst>
            <a:outerShdw blurRad="127000" dist="50800" dir="5400000" algn="bl" rotWithShape="0">
              <a:srgbClr val="000000">
                <a:alpha val="20000"/>
              </a:srgbClr>
            </a:outerShdw>
          </a:effectLst>
        </p:spPr>
      </p:pic>
      <p:pic>
        <p:nvPicPr>
          <p:cNvPr id="7" name="Image 2" descr="https://kimi-img.moonshot.cn/pub/slides/okc/fkgqnewwu6goi/mnt/agents/output/%E7%A7%BB%E5%8A%A8%E5%BA%94%E7%94%A8%E6%B5%8B%E8%AF%95PPT/images/leakcanary_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667750" y="1047750"/>
            <a:ext cx="2184300" cy="4000500"/>
          </a:xfrm>
          <a:prstGeom prst="roundRect">
            <a:avLst>
              <a:gd name="adj" fmla="val 8000"/>
            </a:avLst>
          </a:prstGeom>
          <a:effectLst>
            <a:outerShdw blurRad="127000" dist="50800" dir="54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85725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1C4F90"/>
          </a:solidFill>
        </p:spPr>
      </p:sp>
      <p:sp>
        <p:nvSpPr>
          <p:cNvPr id="9" name="Text 4"/>
          <p:cNvSpPr/>
          <p:nvPr/>
        </p:nvSpPr>
        <p:spPr>
          <a:xfrm>
            <a:off x="857250" y="5143500"/>
            <a:ext cx="26670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1: 打开泄漏页面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476250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1C4F90"/>
          </a:solidFill>
        </p:spPr>
      </p:sp>
      <p:sp>
        <p:nvSpPr>
          <p:cNvPr id="11" name="Text 6"/>
          <p:cNvSpPr/>
          <p:nvPr/>
        </p:nvSpPr>
        <p:spPr>
          <a:xfrm>
            <a:off x="4762500" y="5143500"/>
            <a:ext cx="26670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2: 关闭页面制造泄漏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866775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D32F2F"/>
          </a:solidFill>
        </p:spPr>
      </p:sp>
      <p:sp>
        <p:nvSpPr>
          <p:cNvPr id="13" name="Text 8"/>
          <p:cNvSpPr/>
          <p:nvPr/>
        </p:nvSpPr>
        <p:spPr>
          <a:xfrm>
            <a:off x="8667750" y="5143500"/>
            <a:ext cx="26670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3: LeakCanary 泄漏提醒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57250" y="5572125"/>
            <a:ext cx="2667000" cy="476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进入测试页面，该页面持有外部静态引用</a:t>
            </a:r>
            <a:endParaRPr lang="en-US" sz="975" dirty="0"/>
          </a:p>
        </p:txBody>
      </p:sp>
      <p:sp>
        <p:nvSpPr>
          <p:cNvPr id="15" name="Text 10"/>
          <p:cNvSpPr/>
          <p:nvPr/>
        </p:nvSpPr>
        <p:spPr>
          <a:xfrm>
            <a:off x="4762500" y="5572125"/>
            <a:ext cx="2667000" cy="476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点击按钮关闭页面，Activity 未被 GC 回收</a:t>
            </a:r>
            <a:endParaRPr lang="en-US" sz="975" dirty="0"/>
          </a:p>
        </p:txBody>
      </p:sp>
      <p:sp>
        <p:nvSpPr>
          <p:cNvPr id="16" name="Text 11"/>
          <p:cNvSpPr/>
          <p:nvPr/>
        </p:nvSpPr>
        <p:spPr>
          <a:xfrm>
            <a:off x="8667750" y="5572125"/>
            <a:ext cx="2667000" cy="476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LeakCanary 检测到 5 个 retained 对象，系统通知栏弹出泄漏提醒</a:t>
            </a:r>
            <a:endParaRPr lang="en-US" sz="975" dirty="0"/>
          </a:p>
        </p:txBody>
      </p:sp>
      <p:sp>
        <p:nvSpPr>
          <p:cNvPr id="17" name="Shape 12"/>
          <p:cNvSpPr/>
          <p:nvPr/>
        </p:nvSpPr>
        <p:spPr>
          <a:xfrm>
            <a:off x="857250" y="6143625"/>
            <a:ext cx="10477500" cy="523875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12700">
            <a:solidFill>
              <a:srgbClr val="1C4F9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047750" y="6143625"/>
            <a:ext cx="10096500" cy="523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25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检测结果：</a:t>
            </a:r>
            <a:r>
              <a:rPr lang="en-US" sz="1125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LeakCanary 成功发现 1 处新的内存泄漏，通过系统通知栏明显提醒开发者。点击通知可查看完整的引用链（Reference Chain）和泄漏对象详情，帮助快速定位泄漏根因。</a:t>
            </a:r>
            <a:endParaRPr lang="en-US" sz="1125" dirty="0"/>
          </a:p>
        </p:txBody>
      </p:sp>
    </p:spTree>
  </p:cSld>
  <p:clrMapOvr>
    <a:masterClrMapping/>
  </p:clrMapOvr>
  <p:transition advTm="2000">
    <p:wedg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94360"/>
          </a:xfrm>
          <a:prstGeom prst="rect">
            <a:avLst/>
          </a:prstGeom>
          <a:solidFill>
            <a:srgbClr val="1A237E"/>
          </a:solidFill>
          <a:ln w="12700">
            <a:solidFill>
              <a:srgbClr val="609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528" y="30480"/>
            <a:ext cx="12120848" cy="533400"/>
          </a:xfrm>
          <a:prstGeom prst="rect">
            <a:avLst/>
          </a:prstGeom>
          <a:noFill/>
        </p:spPr>
      </p:sp>
      <p:sp>
        <p:nvSpPr>
          <p:cNvPr id="4" name="Text 2"/>
          <p:cNvSpPr/>
          <p:nvPr/>
        </p:nvSpPr>
        <p:spPr>
          <a:xfrm>
            <a:off x="-55912" y="-15240"/>
            <a:ext cx="12303728" cy="624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4.2 LeakCanary 历史记录功能检测</a:t>
            </a:r>
            <a:endParaRPr lang="en-US" sz="2800" dirty="0"/>
          </a:p>
        </p:txBody>
      </p:sp>
      <p:pic>
        <p:nvPicPr>
          <p:cNvPr id="5" name="Image 0" descr="https://kimi-img.moonshot.cn/pub/slides/okc/wgbeg2fugicg2/mnt/agents/output/%E4%B8%B4%E6%97%B6/images/calculator_m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047750"/>
            <a:ext cx="2183130" cy="4000500"/>
          </a:xfrm>
          <a:prstGeom prst="roundRect">
            <a:avLst>
              <a:gd name="adj" fmla="val 8000"/>
            </a:avLst>
          </a:prstGeom>
          <a:effectLst>
            <a:outerShdw blurRad="127000" dist="50800" dir="60000" algn="bl" rotWithShape="0">
              <a:srgbClr val="000000">
                <a:alpha val="20000"/>
              </a:srgbClr>
            </a:outerShdw>
          </a:effectLst>
        </p:spPr>
      </p:pic>
      <p:pic>
        <p:nvPicPr>
          <p:cNvPr id="6" name="Image 1" descr="https://kimi-img.moonshot.cn/pub/slides/okc/wgbeg2fugicg2/mnt/agents/output/%E4%B8%B4%E6%97%B6/images/calculato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1047750"/>
            <a:ext cx="2184273" cy="4000500"/>
          </a:xfrm>
          <a:prstGeom prst="roundRect">
            <a:avLst>
              <a:gd name="adj" fmla="val 8000"/>
            </a:avLst>
          </a:prstGeom>
          <a:effectLst>
            <a:outerShdw blurRad="127000" dist="50800" dir="60000" algn="bl" rotWithShape="0">
              <a:srgbClr val="000000">
                <a:alpha val="20000"/>
              </a:srgbClr>
            </a:outerShdw>
          </a:effectLst>
        </p:spPr>
      </p:pic>
      <p:pic>
        <p:nvPicPr>
          <p:cNvPr id="7" name="Image 2" descr="https://kimi-img.moonshot.cn/pub/slides/okc/wgbeg2fugicg2/mnt/agents/output/%E4%B8%B4%E6%97%B6/images/notificati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750" y="1047750"/>
            <a:ext cx="2184273" cy="4000500"/>
          </a:xfrm>
          <a:prstGeom prst="roundRect">
            <a:avLst>
              <a:gd name="adj" fmla="val 8000"/>
            </a:avLst>
          </a:prstGeom>
          <a:effectLst>
            <a:outerShdw blurRad="127000" dist="50800" dir="60000" algn="bl" rotWithShape="0">
              <a:srgbClr val="000000">
                <a:alpha val="20000"/>
              </a:srgbClr>
            </a:outerShdw>
          </a:effectLst>
        </p:spPr>
      </p:pic>
      <p:sp>
        <p:nvSpPr>
          <p:cNvPr id="8" name="Shape 3"/>
          <p:cNvSpPr/>
          <p:nvPr/>
        </p:nvSpPr>
        <p:spPr>
          <a:xfrm>
            <a:off x="85725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1C4F90"/>
          </a:solidFill>
        </p:spPr>
      </p:sp>
      <p:sp>
        <p:nvSpPr>
          <p:cNvPr id="9" name="Shape 4"/>
          <p:cNvSpPr/>
          <p:nvPr/>
        </p:nvSpPr>
        <p:spPr>
          <a:xfrm>
            <a:off x="857250" y="5143500"/>
            <a:ext cx="2667000" cy="342900"/>
          </a:xfrm>
          <a:prstGeom prst="rect">
            <a:avLst/>
          </a:prstGeom>
          <a:noFill/>
        </p:spPr>
      </p:sp>
      <p:sp>
        <p:nvSpPr>
          <p:cNvPr id="10" name="Text 5"/>
          <p:cNvSpPr/>
          <p:nvPr/>
        </p:nvSpPr>
        <p:spPr>
          <a:xfrm>
            <a:off x="765810" y="5097780"/>
            <a:ext cx="2849880" cy="4343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1: 打开计算器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76250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1C4F90"/>
          </a:solidFill>
        </p:spPr>
      </p:sp>
      <p:sp>
        <p:nvSpPr>
          <p:cNvPr id="12" name="Shape 7"/>
          <p:cNvSpPr/>
          <p:nvPr/>
        </p:nvSpPr>
        <p:spPr>
          <a:xfrm>
            <a:off x="4762500" y="5143500"/>
            <a:ext cx="2667000" cy="342900"/>
          </a:xfrm>
          <a:prstGeom prst="rect">
            <a:avLst/>
          </a:prstGeom>
          <a:noFill/>
        </p:spPr>
      </p:sp>
      <p:sp>
        <p:nvSpPr>
          <p:cNvPr id="13" name="Text 8"/>
          <p:cNvSpPr/>
          <p:nvPr/>
        </p:nvSpPr>
        <p:spPr>
          <a:xfrm>
            <a:off x="4671060" y="5097780"/>
            <a:ext cx="2849880" cy="4343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2: 查看历史记录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667750" y="5143500"/>
            <a:ext cx="2667000" cy="342900"/>
          </a:xfrm>
          <a:prstGeom prst="roundRect">
            <a:avLst>
              <a:gd name="adj" fmla="val 8000"/>
            </a:avLst>
          </a:prstGeom>
          <a:solidFill>
            <a:srgbClr val="D32F2F"/>
          </a:solidFill>
        </p:spPr>
      </p:sp>
      <p:sp>
        <p:nvSpPr>
          <p:cNvPr id="15" name="Shape 10"/>
          <p:cNvSpPr/>
          <p:nvPr/>
        </p:nvSpPr>
        <p:spPr>
          <a:xfrm>
            <a:off x="8667750" y="5143500"/>
            <a:ext cx="2667000" cy="342900"/>
          </a:xfrm>
          <a:prstGeom prst="rect">
            <a:avLst/>
          </a:prstGeom>
          <a:noFill/>
        </p:spPr>
      </p:sp>
      <p:sp>
        <p:nvSpPr>
          <p:cNvPr id="16" name="Text 11"/>
          <p:cNvSpPr/>
          <p:nvPr/>
        </p:nvSpPr>
        <p:spPr>
          <a:xfrm>
            <a:off x="8576310" y="5097780"/>
            <a:ext cx="2849880" cy="4343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dirty="0">
                <a:solidFill>
                  <a:srgbClr val="FFFFFF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Step 3: 检查通知栏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57250" y="5572125"/>
            <a:ext cx="2667000" cy="476250"/>
          </a:xfrm>
          <a:prstGeom prst="rect">
            <a:avLst/>
          </a:prstGeom>
          <a:noFill/>
        </p:spPr>
      </p:sp>
      <p:sp>
        <p:nvSpPr>
          <p:cNvPr id="18" name="Text 13"/>
          <p:cNvSpPr/>
          <p:nvPr/>
        </p:nvSpPr>
        <p:spPr>
          <a:xfrm>
            <a:off x="765810" y="5526405"/>
            <a:ext cx="2849880" cy="5676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进入计算器主界面，准备进行历史记录功能测试</a:t>
            </a:r>
            <a:endParaRPr lang="en-US" sz="975" dirty="0"/>
          </a:p>
        </p:txBody>
      </p:sp>
      <p:sp>
        <p:nvSpPr>
          <p:cNvPr id="19" name="Shape 14"/>
          <p:cNvSpPr/>
          <p:nvPr/>
        </p:nvSpPr>
        <p:spPr>
          <a:xfrm>
            <a:off x="4762500" y="5572125"/>
            <a:ext cx="2667000" cy="476250"/>
          </a:xfrm>
          <a:prstGeom prst="rect">
            <a:avLst/>
          </a:prstGeom>
          <a:noFill/>
        </p:spPr>
      </p:sp>
      <p:sp>
        <p:nvSpPr>
          <p:cNvPr id="20" name="Text 15"/>
          <p:cNvSpPr/>
          <p:nvPr/>
        </p:nvSpPr>
        <p:spPr>
          <a:xfrm>
            <a:off x="4671060" y="5526405"/>
            <a:ext cx="2849880" cy="5676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点击历史记录按钮，打开历史记录弹窗并多次操作</a:t>
            </a:r>
            <a:endParaRPr lang="en-US" sz="975" dirty="0"/>
          </a:p>
        </p:txBody>
      </p:sp>
      <p:sp>
        <p:nvSpPr>
          <p:cNvPr id="21" name="Shape 16"/>
          <p:cNvSpPr/>
          <p:nvPr/>
        </p:nvSpPr>
        <p:spPr>
          <a:xfrm>
            <a:off x="8667750" y="5572125"/>
            <a:ext cx="2667000" cy="476250"/>
          </a:xfrm>
          <a:prstGeom prst="rect">
            <a:avLst/>
          </a:prstGeom>
          <a:noFill/>
        </p:spPr>
      </p:sp>
      <p:sp>
        <p:nvSpPr>
          <p:cNvPr id="22" name="Text 17"/>
          <p:cNvSpPr/>
          <p:nvPr/>
        </p:nvSpPr>
        <p:spPr>
          <a:xfrm>
            <a:off x="8576310" y="5526405"/>
            <a:ext cx="2849880" cy="5676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975" dirty="0">
                <a:solidFill>
                  <a:srgbClr val="595959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通知栏中未发现 LeakCanary 泄漏提醒，证明无内存泄漏</a:t>
            </a:r>
            <a:endParaRPr lang="en-US" sz="975" dirty="0"/>
          </a:p>
        </p:txBody>
      </p:sp>
      <p:sp>
        <p:nvSpPr>
          <p:cNvPr id="23" name="Shape 18"/>
          <p:cNvSpPr/>
          <p:nvPr/>
        </p:nvSpPr>
        <p:spPr>
          <a:xfrm>
            <a:off x="857250" y="6143625"/>
            <a:ext cx="10477500" cy="523875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12700">
            <a:solidFill>
              <a:srgbClr val="1C4F9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47750" y="6143625"/>
            <a:ext cx="10096500" cy="523875"/>
          </a:xfrm>
          <a:prstGeom prst="rect">
            <a:avLst/>
          </a:prstGeom>
          <a:noFill/>
        </p:spPr>
      </p:sp>
      <p:sp>
        <p:nvSpPr>
          <p:cNvPr id="25" name="Text 20"/>
          <p:cNvSpPr/>
          <p:nvPr/>
        </p:nvSpPr>
        <p:spPr>
          <a:xfrm>
            <a:off x="956310" y="6097905"/>
            <a:ext cx="10279380" cy="6153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25" b="1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检测结果：</a:t>
            </a:r>
            <a:r>
              <a:rPr lang="en-US" sz="1125" dirty="0">
                <a:solidFill>
                  <a:srgbClr val="1C4F90"/>
                </a:solidFill>
                <a:latin typeface="思源宋体 CN Heavy" pitchFamily="34" charset="0"/>
                <a:ea typeface="思源宋体 CN Heavy" panose="02020900000000000000" pitchFamily="18" charset="-122"/>
                <a:cs typeface="思源宋体 CN Heavy" pitchFamily="34" charset="-120"/>
              </a:rPr>
              <a:t>对计算器项目历史记录功能进行 LeakCanary 检测后，系统通知栏未出现任何泄漏提醒。证明历史记录功能不存在内存泄漏问题，Activity 生命周期管理规范，资源释放正常，符合内存安全要求。</a:t>
            </a:r>
            <a:endParaRPr lang="en-US" sz="1125" dirty="0"/>
          </a:p>
        </p:txBody>
      </p:sp>
    </p:spTree>
  </p:cSld>
  <p:clrMapOvr>
    <a:masterClrMapping/>
  </p:clrMapOvr>
  <p:transition advTm="2000">
    <p:wedg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0" y="-8255"/>
            <a:ext cx="12263120" cy="6936105"/>
            <a:chOff x="0" y="-13"/>
            <a:chExt cx="19312" cy="10923"/>
          </a:xfrm>
        </p:grpSpPr>
        <p:sp>
          <p:nvSpPr>
            <p:cNvPr id="2050" name="等腰三角形 6"/>
            <p:cNvSpPr>
              <a:spLocks noChangeArrowheads="1"/>
            </p:cNvSpPr>
            <p:nvPr/>
          </p:nvSpPr>
          <p:spPr bwMode="auto">
            <a:xfrm rot="16200000">
              <a:off x="11492" y="2837"/>
              <a:ext cx="10314" cy="5077"/>
            </a:xfrm>
            <a:prstGeom prst="triangle">
              <a:avLst>
                <a:gd name="adj" fmla="val 50000"/>
              </a:avLst>
            </a:prstGeom>
            <a:solidFill>
              <a:srgbClr val="1C4F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395E8A"/>
                  </a:solidFill>
                  <a:bevel/>
                </a14:hiddenLine>
              </a:ext>
            </a:extLst>
          </p:spPr>
          <p:txBody>
            <a:bodyPr anchor="ctr"/>
            <a:lstStyle/>
            <a:p>
              <a:pPr algn="ctr">
                <a:buFont typeface="Arial" panose="020B0604020202020204" pitchFamily="34" charset="0"/>
                <a:buNone/>
              </a:pPr>
              <a:endParaRPr lang="zh-CN" altLang="zh-CN">
                <a:solidFill>
                  <a:srgbClr val="FFFFFF"/>
                </a:solidFill>
                <a:latin typeface="宋体" panose="02010600030101010101" pitchFamily="2" charset="-122"/>
                <a:sym typeface="宋体" panose="02010600030101010101" pitchFamily="2" charset="-122"/>
              </a:endParaRPr>
            </a:p>
          </p:txBody>
        </p:sp>
        <p:sp>
          <p:nvSpPr>
            <p:cNvPr id="2053" name="直接连接符 15"/>
            <p:cNvSpPr>
              <a:spLocks noChangeAspect="1" noChangeShapeType="1"/>
            </p:cNvSpPr>
            <p:nvPr/>
          </p:nvSpPr>
          <p:spPr bwMode="auto">
            <a:xfrm flipH="1">
              <a:off x="14531" y="535"/>
              <a:ext cx="4767" cy="4844"/>
            </a:xfrm>
            <a:prstGeom prst="line">
              <a:avLst/>
            </a:prstGeom>
            <a:noFill/>
            <a:ln w="6350">
              <a:solidFill>
                <a:srgbClr val="F2F2F2">
                  <a:alpha val="69019"/>
                </a:srgb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4" name="直接连接符 16"/>
            <p:cNvSpPr>
              <a:spLocks noChangeAspect="1" noChangeShapeType="1"/>
            </p:cNvSpPr>
            <p:nvPr/>
          </p:nvSpPr>
          <p:spPr bwMode="auto">
            <a:xfrm>
              <a:off x="14545" y="5382"/>
              <a:ext cx="4767" cy="4844"/>
            </a:xfrm>
            <a:prstGeom prst="line">
              <a:avLst/>
            </a:prstGeom>
            <a:noFill/>
            <a:ln w="6350">
              <a:solidFill>
                <a:srgbClr val="F2F2F2">
                  <a:alpha val="69019"/>
                </a:srgb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59" name="直接连接符 22"/>
            <p:cNvSpPr>
              <a:spLocks noChangeAspect="1" noChangeShapeType="1"/>
            </p:cNvSpPr>
            <p:nvPr/>
          </p:nvSpPr>
          <p:spPr bwMode="auto">
            <a:xfrm rot="16200000" flipH="1">
              <a:off x="8327" y="-54"/>
              <a:ext cx="5385" cy="5468"/>
            </a:xfrm>
            <a:prstGeom prst="line">
              <a:avLst/>
            </a:prstGeom>
            <a:noFill/>
            <a:ln w="6350">
              <a:solidFill>
                <a:schemeClr val="bg2">
                  <a:lumMod val="85000"/>
                </a:scheme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0" name="直接连接符 23"/>
            <p:cNvSpPr>
              <a:spLocks noChangeAspect="1" noChangeShapeType="1"/>
            </p:cNvSpPr>
            <p:nvPr/>
          </p:nvSpPr>
          <p:spPr bwMode="auto">
            <a:xfrm rot="16200000" flipH="1">
              <a:off x="8038" y="-53"/>
              <a:ext cx="5383" cy="5470"/>
            </a:xfrm>
            <a:prstGeom prst="line">
              <a:avLst/>
            </a:prstGeom>
            <a:noFill/>
            <a:ln w="6350">
              <a:solidFill>
                <a:srgbClr val="1C4F90"/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1" name="直接连接符 24"/>
            <p:cNvSpPr>
              <a:spLocks noChangeAspect="1" noChangeShapeType="1"/>
            </p:cNvSpPr>
            <p:nvPr/>
          </p:nvSpPr>
          <p:spPr bwMode="auto">
            <a:xfrm rot="5400000">
              <a:off x="8166" y="5328"/>
              <a:ext cx="5539" cy="5625"/>
            </a:xfrm>
            <a:prstGeom prst="line">
              <a:avLst/>
            </a:prstGeom>
            <a:noFill/>
            <a:ln w="6350">
              <a:solidFill>
                <a:schemeClr val="bg2">
                  <a:lumMod val="85000"/>
                </a:schemeClr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62" name="直接连接符 25"/>
            <p:cNvSpPr>
              <a:spLocks noChangeAspect="1" noChangeShapeType="1"/>
            </p:cNvSpPr>
            <p:nvPr/>
          </p:nvSpPr>
          <p:spPr bwMode="auto">
            <a:xfrm rot="5400000">
              <a:off x="7933" y="5328"/>
              <a:ext cx="5500" cy="5588"/>
            </a:xfrm>
            <a:prstGeom prst="line">
              <a:avLst/>
            </a:prstGeom>
            <a:noFill/>
            <a:ln w="6350">
              <a:solidFill>
                <a:srgbClr val="1C4F90"/>
              </a:solidFill>
              <a:bevel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4" name="图片 3" descr="千库网_大学校园教室_摄影图编号49875"/>
            <p:cNvPicPr>
              <a:picLocks noChangeAspect="1"/>
            </p:cNvPicPr>
            <p:nvPr/>
          </p:nvPicPr>
          <p:blipFill>
            <a:blip r:embed="rId1" cstate="email"/>
            <a:srcRect/>
            <a:stretch>
              <a:fillRect/>
            </a:stretch>
          </p:blipFill>
          <p:spPr>
            <a:xfrm>
              <a:off x="8876" y="5557"/>
              <a:ext cx="10306" cy="5243"/>
            </a:xfrm>
            <a:prstGeom prst="triangle">
              <a:avLst>
                <a:gd name="adj" fmla="val 50005"/>
              </a:avLst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 cstate="email"/>
            <a:srcRect/>
            <a:stretch>
              <a:fillRect/>
            </a:stretch>
          </p:blipFill>
          <p:spPr>
            <a:xfrm flipV="1">
              <a:off x="8675" y="0"/>
              <a:ext cx="10531" cy="5370"/>
            </a:xfrm>
            <a:prstGeom prst="triangle">
              <a:avLst>
                <a:gd name="adj" fmla="val 50356"/>
              </a:avLst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242" y="878"/>
              <a:ext cx="823" cy="823"/>
              <a:chOff x="1302" y="998"/>
              <a:chExt cx="1982" cy="1982"/>
            </a:xfrm>
          </p:grpSpPr>
          <p:sp>
            <p:nvSpPr>
              <p:cNvPr id="9" name="Oval 2287"/>
              <p:cNvSpPr/>
              <p:nvPr/>
            </p:nvSpPr>
            <p:spPr>
              <a:xfrm>
                <a:off x="1302" y="998"/>
                <a:ext cx="1982" cy="1982"/>
              </a:xfrm>
              <a:prstGeom prst="ellipse">
                <a:avLst/>
              </a:prstGeom>
              <a:gradFill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2700000" scaled="1"/>
              </a:gradFill>
              <a:ln w="15875"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63500" dist="25400" dir="2700000" algn="tl" rotWithShape="0">
                  <a:schemeClr val="tx1">
                    <a:lumMod val="50000"/>
                    <a:lumOff val="50000"/>
                    <a:alpha val="3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思源宋体" panose="02020400000000000000" charset="-122"/>
                </a:endParaRPr>
              </a:p>
            </p:txBody>
          </p:sp>
          <p:sp>
            <p:nvSpPr>
              <p:cNvPr id="25" name="Oval 2287"/>
              <p:cNvSpPr/>
              <p:nvPr/>
            </p:nvSpPr>
            <p:spPr>
              <a:xfrm>
                <a:off x="1435" y="1130"/>
                <a:ext cx="1717" cy="1717"/>
              </a:xfrm>
              <a:prstGeom prst="ellipse">
                <a:avLst/>
              </a:prstGeom>
              <a:solidFill>
                <a:srgbClr val="1C4F90"/>
              </a:solidFill>
              <a:ln w="15875"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63500" dist="25400" dir="2700000" algn="tl" rotWithShape="0">
                  <a:schemeClr val="tx1">
                    <a:lumMod val="50000"/>
                    <a:lumOff val="50000"/>
                    <a:alpha val="3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思源宋体" panose="02020400000000000000" charset="-122"/>
                </a:endParaRPr>
              </a:p>
            </p:txBody>
          </p:sp>
          <p:pic>
            <p:nvPicPr>
              <p:cNvPr id="10" name="图片 9" descr="343435383036383b343533323532303bb1cfd2b5d4bad0a3"/>
              <p:cNvPicPr>
                <a:picLocks noChangeAspect="1"/>
              </p:cNvPicPr>
              <p:nvPr/>
            </p:nvPicPr>
            <p:blipFill>
              <a:blip r:embed="rId3" cstate="email"/>
              <a:stretch>
                <a:fillRect/>
              </a:stretch>
            </p:blipFill>
            <p:spPr>
              <a:xfrm>
                <a:off x="1729" y="1449"/>
                <a:ext cx="1050" cy="1050"/>
              </a:xfrm>
              <a:prstGeom prst="rect">
                <a:avLst/>
              </a:prstGeom>
            </p:spPr>
          </p:pic>
        </p:grpSp>
        <p:grpSp>
          <p:nvGrpSpPr>
            <p:cNvPr id="13" name="组合 12"/>
            <p:cNvGrpSpPr/>
            <p:nvPr/>
          </p:nvGrpSpPr>
          <p:grpSpPr>
            <a:xfrm>
              <a:off x="1002" y="3334"/>
              <a:ext cx="10069" cy="4133"/>
              <a:chOff x="982" y="3395"/>
              <a:chExt cx="10069" cy="4133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982" y="3395"/>
                <a:ext cx="9888" cy="20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8000" b="1" dirty="0">
                    <a:solidFill>
                      <a:srgbClr val="1C4F90"/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谢谢您的观赏</a:t>
                </a:r>
                <a:endParaRPr lang="zh-CN" altLang="en-US" sz="8000" b="1" dirty="0">
                  <a:solidFill>
                    <a:srgbClr val="1C4F90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  <p:sp>
            <p:nvSpPr>
              <p:cNvPr id="28" name="文本框 27"/>
              <p:cNvSpPr txBox="1"/>
              <p:nvPr userDrawn="1"/>
            </p:nvSpPr>
            <p:spPr>
              <a:xfrm>
                <a:off x="1162" y="5477"/>
                <a:ext cx="9889" cy="8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Enter the core content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here.Enter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core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text.Enter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text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here.Enter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core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content.Enter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content.Enter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text.Enter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</a:t>
                </a:r>
                <a:r>
                  <a:rPr lang="en-US" altLang="zh-CN" sz="11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content.Enter</a:t>
                </a:r>
                <a:r>
                  <a:rPr lang="en-US" altLang="zh-CN" sz="11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  <a:sym typeface="+mn-ea"/>
                  </a:rPr>
                  <a:t> the content.</a:t>
                </a:r>
                <a:endParaRPr lang="en-US" altLang="zh-CN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  <a:sym typeface="+mn-ea"/>
                </a:endParaRPr>
              </a:p>
            </p:txBody>
          </p:sp>
          <p:sp>
            <p:nvSpPr>
              <p:cNvPr id="29" name="文本框 28"/>
              <p:cNvSpPr txBox="1"/>
              <p:nvPr userDrawn="1"/>
            </p:nvSpPr>
            <p:spPr>
              <a:xfrm>
                <a:off x="1320" y="6993"/>
                <a:ext cx="2860" cy="535"/>
              </a:xfrm>
              <a:prstGeom prst="roundRect">
                <a:avLst/>
              </a:prstGeom>
              <a:solidFill>
                <a:srgbClr val="1C4F90"/>
              </a:solidFill>
            </p:spPr>
            <p:txBody>
              <a:bodyPr wrap="square" rtlCol="0">
                <a:spAutoFit/>
              </a:bodyPr>
              <a:lstStyle/>
              <a:p>
                <a:pPr algn="dist"/>
                <a:r>
                  <a:rPr lang="zh-CN" altLang="en-US" sz="1400" b="1" dirty="0">
                    <a:solidFill>
                      <a:schemeClr val="bg1"/>
                    </a:solidFill>
                    <a:latin typeface="思源宋体 CN Heavy" panose="02020900000000000000" pitchFamily="18" charset="-122"/>
                    <a:ea typeface="思源宋体 CN Heavy" panose="02020900000000000000" pitchFamily="18" charset="-122"/>
                    <a:cs typeface="思源宋体" panose="02020400000000000000" charset="-122"/>
                  </a:rPr>
                  <a:t>答辩人：黄开为</a:t>
                </a:r>
                <a:endParaRPr lang="en-US" altLang="zh-CN" sz="1400" b="1" dirty="0">
                  <a:solidFill>
                    <a:schemeClr val="bg1"/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思源宋体" panose="02020400000000000000" charset="-122"/>
                </a:endParaRPr>
              </a:p>
            </p:txBody>
          </p:sp>
        </p:grpSp>
        <p:sp>
          <p:nvSpPr>
            <p:cNvPr id="23" name="文本框 22"/>
            <p:cNvSpPr txBox="1"/>
            <p:nvPr/>
          </p:nvSpPr>
          <p:spPr>
            <a:xfrm>
              <a:off x="2211" y="1048"/>
              <a:ext cx="286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endParaRPr lang="zh-CN" altLang="en-US" sz="1400" dirty="0">
                <a:solidFill>
                  <a:srgbClr val="1C4F90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  <p:sp>
          <p:nvSpPr>
            <p:cNvPr id="14" name="直角三角形 13"/>
            <p:cNvSpPr/>
            <p:nvPr/>
          </p:nvSpPr>
          <p:spPr>
            <a:xfrm>
              <a:off x="0" y="9777"/>
              <a:ext cx="1241" cy="1023"/>
            </a:xfrm>
            <a:prstGeom prst="rtTriangle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直角三角形 14"/>
            <p:cNvSpPr/>
            <p:nvPr/>
          </p:nvSpPr>
          <p:spPr>
            <a:xfrm flipV="1">
              <a:off x="0" y="-12"/>
              <a:ext cx="1241" cy="1023"/>
            </a:xfrm>
            <a:prstGeom prst="rtTriangle">
              <a:avLst/>
            </a:prstGeom>
            <a:solidFill>
              <a:srgbClr val="1C4F9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993" y="1620"/>
              <a:ext cx="1163" cy="751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3600" dirty="0">
                  <a:solidFill>
                    <a:schemeClr val="bg2">
                      <a:lumMod val="85000"/>
                      <a:alpha val="12000"/>
                    </a:scheme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</a:rPr>
                <a:t>REPLY TO REPORT</a:t>
              </a:r>
              <a:endParaRPr lang="zh-CN" altLang="en-US" sz="3600" dirty="0">
                <a:solidFill>
                  <a:schemeClr val="bg2">
                    <a:lumMod val="85000"/>
                    <a:alpha val="12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endParaRPr>
            </a:p>
          </p:txBody>
        </p:sp>
      </p:grpSp>
    </p:spTree>
    <p:custDataLst>
      <p:tags r:id="rId4"/>
    </p:custDataLst>
  </p:cSld>
  <p:clrMapOvr>
    <a:masterClrMapping/>
  </p:clrMapOvr>
  <p:transition advTm="2000">
    <p:check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3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4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5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6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7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8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9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10.xml><?xml version="1.0" encoding="utf-8"?>
<p:tagLst xmlns:p="http://schemas.openxmlformats.org/presentationml/2006/main">
  <p:tag name="KSO_WM_DIAGRAM_VIRTUALLY_FRAME" val="{&quot;height&quot;:546.15,&quot;left&quot;:0,&quot;top&quot;:-0.65,&quot;width&quot;:965.6}"/>
</p:tagLst>
</file>

<file path=ppt/tags/tag1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2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3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4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5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6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7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8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19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0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1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2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3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4.xml><?xml version="1.0" encoding="utf-8"?>
<p:tagLst xmlns:p="http://schemas.openxmlformats.org/presentationml/2006/main">
  <p:tag name="KSO_WM_DIAGRAM_VIRTUALLY_FRAME" val="{&quot;height&quot;:530.7,&quot;left&quot;:-10.75,&quot;top&quot;:9.3,&quot;width&quot;:988.65}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27.xml><?xml version="1.0" encoding="utf-8"?>
<p:tagLst xmlns:p="http://schemas.openxmlformats.org/presentationml/2006/main">
  <p:tag name="TABLE_ENDDRAG_ORIGIN_RECT" val="331*162"/>
  <p:tag name="TABLE_ENDDRAG_RECT" val="26*317*331*162"/>
</p:tagLst>
</file>

<file path=ppt/tags/tag28.xml><?xml version="1.0" encoding="utf-8"?>
<p:tagLst xmlns:p="http://schemas.openxmlformats.org/presentationml/2006/main">
  <p:tag name="TABLE_ENDDRAG_ORIGIN_RECT" val="331*172"/>
  <p:tag name="TABLE_ENDDRAG_RECT" val="584*317*331*17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0.xml><?xml version="1.0" encoding="utf-8"?>
<p:tagLst xmlns:p="http://schemas.openxmlformats.org/presentationml/2006/main">
  <p:tag name="TABLE_ENDDRAG_ORIGIN_RECT" val="359*223"/>
  <p:tag name="TABLE_ENDDRAG_RECT" val="546*56*360*223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2.xml><?xml version="1.0" encoding="utf-8"?>
<p:tagLst xmlns:p="http://schemas.openxmlformats.org/presentationml/2006/main">
  <p:tag name="TABLE_ENDDRAG_ORIGIN_RECT" val="473*241"/>
  <p:tag name="TABLE_ENDDRAG_RECT" val="467*281*473*241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第一PPT，www.1ppt.com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10900</Words>
  <Application>WPS 演示</Application>
  <PresentationFormat>宽屏</PresentationFormat>
  <Paragraphs>1509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50" baseType="lpstr">
      <vt:lpstr>Arial</vt:lpstr>
      <vt:lpstr>宋体</vt:lpstr>
      <vt:lpstr>Wingdings</vt:lpstr>
      <vt:lpstr>微软雅黑</vt:lpstr>
      <vt:lpstr>Wingdings</vt:lpstr>
      <vt:lpstr>思源宋体</vt:lpstr>
      <vt:lpstr>思源宋体 CN Heavy</vt:lpstr>
      <vt:lpstr>Aharoni</vt:lpstr>
      <vt:lpstr>字魂95号-手刻宋</vt:lpstr>
      <vt:lpstr>Consolas</vt:lpstr>
      <vt:lpstr>Arial Unicode MS</vt:lpstr>
      <vt:lpstr>等线</vt:lpstr>
      <vt:lpstr>Calibri</vt:lpstr>
      <vt:lpstr>Source Han Sans K Medium</vt:lpstr>
      <vt:lpstr>汉仪井柏然体简</vt:lpstr>
      <vt:lpstr>MS UI Gothic</vt:lpstr>
      <vt:lpstr>Arial</vt:lpstr>
      <vt:lpstr>Arial</vt:lpstr>
      <vt:lpstr>思源宋体 CN Heavy</vt:lpstr>
      <vt:lpstr>思源宋体 CN Heavy</vt:lpstr>
      <vt:lpstr>Yu Gothic UI Semibold</vt:lpstr>
      <vt:lpstr>第一PPT，www.1ppt.com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毕业论文答辩</dc:title>
  <dc:creator>第一PPT，www.1ppt.com</dc:creator>
  <cp:keywords>www.1ppt.com</cp:keywords>
  <dc:description>第一PPT</dc:description>
  <cp:lastModifiedBy>86177</cp:lastModifiedBy>
  <cp:revision>237</cp:revision>
  <dcterms:created xsi:type="dcterms:W3CDTF">2026-06-14T09:07:00Z</dcterms:created>
  <dcterms:modified xsi:type="dcterms:W3CDTF">2026-06-17T14:08:16Z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C243B4C3D7724440B15AAB12437EF466</vt:lpwstr>
  </property>
</Properties>
</file>