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73152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Fossify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BDEFB"/>
                </a:solidFill>
                <a:latin typeface="微软雅黑"/>
              </a:defRPr>
            </a:pPr>
            <a:r>
              <a:t>Android 开源计算器应用测试</a:t>
            </a:r>
            <a:r>
              <a:rPr lang="zh-CN"/>
              <a:t>汇报</a:t>
            </a:r>
            <a:endParaRPr lang="zh-CN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单元测试 / 集成测试 / 性能测试 / 覆盖率分析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206240"/>
            <a:ext cx="274129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课程名称：</a:t>
            </a:r>
            <a:r>
              <a:rPr lang="zh-CN"/>
              <a:t>移动应用</a:t>
            </a:r>
            <a:r>
              <a:t>软件测试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550283"/>
            <a:ext cx="1828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汇报人：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92340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指导教师：XXX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376672"/>
            <a:ext cx="1828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日期：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一、项目背景与测试目标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3840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应用名称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Fossify Calculator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应用类型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开源计算器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开源协议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完全开源 (GPL 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离线支持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无需网络权限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隐私保护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不收集用户数据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7680" y="777240"/>
          <a:ext cx="4206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基础运算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加减乘除、小数、负数运算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高级运算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幂运算、开方、百分比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9大类109种单位相互转换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计算历史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历史记录保存、查看、清空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自定义设置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振动开关、屏幕常亮、主题颜色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桌面小部件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App Widget 快捷计算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01752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00400"/>
                <a:gridCol w="35661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意义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功能正确性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验证核心计算逻辑准确性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保证用户体验基础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代码质量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提升代码可维护性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降低后期维护成本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性能稳定性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确保流畅运行体验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提升用户满意度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安全性验证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验证隐私合规性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保护用户数据安全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09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准备阶段: 源码获取与环境配置 (3d)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       项目编译与初步运行 (3d)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测试实施: 单元测试编写与执行 (7d)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       集成测试编写与执行 (5d)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分析总结: 覆盖率分析与报告生成 (3d)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       性能测试与瓶颈分析 (3d)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二、系统架构与代码规模分析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713232"/>
          <a:ext cx="411480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914400"/>
              </a:tblGrid>
              <a:tr h="2697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版本要求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Kotlin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主要开发语言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1.9+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SDK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目标平台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API 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Jetpack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设置页面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BOM 2024.x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Room 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本地持久化存储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2.x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EvalEx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数学表达式解析库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最新版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BigDecimal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高精度数值计算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DECIMAL128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JUnit 4 / MockK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单元测试框架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4.13.2 / 1.13.x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/ Espresso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组件/UI 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4.x / 3.5.x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Jacoco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代码覆盖率工具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0.8.x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34840" y="713232"/>
          <a:ext cx="4160519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874519"/>
              </a:tblGrid>
              <a:tr h="38535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Package 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org.fossify.math.* 下 10 个子包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Kotlin 源文件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35 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app/src/main/kotlin 下的 .kt 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Class 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32+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含 Activity、类、接口、单例、数据类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Method 数量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~240+ 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含重写方法、私有方法、扩展函数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代码总行数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~3500+ 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不含自动生成的 BuildConfig 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 数量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 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主界面、设置、单位转换等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92405" y="3893820"/>
            <a:ext cx="8448675" cy="2486025"/>
          </a:xfrm>
          <a:prstGeom prst="roundRect">
            <a:avLst/>
          </a:prstGeom>
          <a:solidFill>
            <a:srgbClr val="E8EA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61937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微软雅黑"/>
              </a:defRPr>
            </a:pPr>
            <a:r>
              <a:t>包结构 org.fossify.math.*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58768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activities     → 7个Activity (MainActivity/Settings/UnitConverter...)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014215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adapters       → 2个RecyclerView适配器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69663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compose        → 1个Compose组件 (SettingsScreen)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325112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databases      → Room数据库单例 + DAO接口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80559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dialogs        → 历史对话框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36007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extensions     → 6个扩展函数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91455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helpers        → 核心业务逻辑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946903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   ├── CalculatorImpl    → 核心计算引擎 (~20方法)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102351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   ├── NumberFormatHelper→ 数字格式化工具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257799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   └── converters       → 9种单位转换器 (Length/Area/Volume/Mass/Temp/Time/Speed/Pressure/Energy)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413247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interfaces      → DAO接口定义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568695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models         → 数据模型 (History Entity / ConverterUnitsState)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724143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receivers      → 语言切换广播接收器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1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views          → 自定义转换视图 (ConverterView)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三、核心类关系图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713105"/>
            <a:ext cx="4998720" cy="5683885"/>
          </a:xfrm>
          <a:prstGeom prst="round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76D2"/>
                </a:solidFill>
                <a:latin typeface="微软雅黑"/>
              </a:defRPr>
            </a:pPr>
            <a:r>
              <a:t>核心类关系简化视图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60704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202436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MainActivity      │ ◄── 主界面入口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344168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(实现Calculator)   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485900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└─────────┬───────────┘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627632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│ creates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69364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911095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052827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CalculatorImpl    │ ◄── 核心计算引擎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194559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(~20个方法)       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336291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└──┬──────┬───────────┘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478023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│      │ 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619755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▼      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761487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┌──────┐ ┌────────────┐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903219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│EvalEx│ │NumberFormat│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044951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│求值  │ │Helper格式化│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186683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└──────┘ └────────────┘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3328415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47472" y="3470147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611879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Converter 接口     │ ◄── 策略模式基类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753611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└─────────┬───────────┘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895343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implemented by (9种)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037075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Length / Area / Volume / Mass / Temperature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178807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Time / Speed / Pressure / Energy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320539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47472" y="4462271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604003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CalculatorDatabase  │ ◄── Room单例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4745736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└─ CalculatorDao   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4887468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  CRUD 操作       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5029200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└─────────┬───────────┘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5170932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│ manages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5312664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5454396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5596128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History Entity    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5737860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(formula/result/ts) 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5879592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└─────────────────────┘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413248" y="713232"/>
          <a:ext cx="36393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896112"/>
              </a:tblGrid>
              <a:tr h="2895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模式名称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应用位置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MVP 变体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MainActivity + CalculatorImpl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View-Presenter 分离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策略模式 Strategy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Converter 接口 + 9种实现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单位转换算法封装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单例模式 Singleton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CalculatorDatabase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全局唯一数据库实例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观察者模式 Observer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OnUnitChangedListener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单位变更通知回调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工厂模式 Factory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ValueWithUnit 创建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统一创建带单位的值对象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13248" y="2560320"/>
          <a:ext cx="363931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76272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颜色标识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浅绿色 #E8F5E9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接口 (Interface)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浅蓝色 #E3F2FD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 / UI层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浅橙色 #FFF3E0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核心业务逻辑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浅紫色 #F3E5F5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数据层 (DB/Entity)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四、系统功能结构图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🧮 计算器模块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基础运算: 加减乘除、小数、负数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1426464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高级运算: 幂运算^、开方√、百分比%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75564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数字格式化: 千分位分隔、本地化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9112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🔄 单位转换模块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长度转换 17种 / 面积转换 10种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1426464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体积转换 24种 / 质量转换 15种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175564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温度/时间/速度/压强/能量 共48种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📊 历史记录模块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保存计算记录、查看历史列表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1426464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复用历史结果、清空历史记录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79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3831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⚙️ 设置模块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1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振动开关、屏幕常亮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1" y="1426464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主题颜色定制、语言切换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🖼️ 小部件模块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桌面快捷计算、自定义配色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3154680"/>
            <a:ext cx="8595360" cy="2484120"/>
          </a:xfrm>
          <a:prstGeom prst="roundRect">
            <a:avLst/>
          </a:prstGeom>
          <a:solidFill>
            <a:srgbClr val="FCFC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2278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76D2"/>
                </a:solidFill>
                <a:latin typeface="微软雅黑"/>
              </a:defRPr>
            </a:pPr>
            <a:r>
              <a:t>核心数据流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5204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24242"/>
                </a:solidFill>
                <a:latin typeface="Consolas"/>
              </a:defRPr>
            </a:pPr>
            <a:r>
              <a:t>用户点击按钮</a:t>
            </a:r>
            <a:br/>
            <a:r>
              <a:t>    ↓</a:t>
            </a:r>
            <a:br/>
            <a:r>
              <a:t>MainActivity.numpadClicked()</a:t>
            </a:r>
            <a:br/>
            <a:r>
              <a:t>    ↓</a:t>
            </a:r>
            <a:br/>
            <a:r>
              <a:t>CalculatorImpl 构建表达式</a:t>
            </a:r>
            <a:br/>
            <a:r>
              <a:t>    ↓</a:t>
            </a:r>
            <a:br/>
            <a:r>
              <a:t>EvalEx 解析表达式 → BigDecimal 结果</a:t>
            </a:r>
            <a:br/>
            <a:r>
              <a:t>    ↓</a:t>
            </a:r>
            <a:br/>
            <a:r>
              <a:t>NumberFormatHelper 格式化显示</a:t>
            </a:r>
            <a:br/>
            <a:r>
              <a:t>    ↓</a:t>
            </a:r>
            <a:br/>
            <a:r>
              <a:t>showNewResult() 更新 UI</a:t>
            </a:r>
            <a:br/>
            <a:br/>
            <a:r>
              <a:t>同时: HistoryHelper → Room Database 持久化历史记录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434840" y="3218688"/>
          <a:ext cx="4343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548640"/>
                <a:gridCol w="868680"/>
                <a:gridCol w="169164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转换器类别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单位数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基准单位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代表单位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LengthConverter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17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km/cm/mm/inch/mile/光年...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AreaConverter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SquareMeter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km²/inch²/公顷/亩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VolumeConverter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24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CubicMeter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L/mL/gal/桶/盎司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MassConverter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15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Kilogram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g/lb/oz/t/原子质量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TemperatureConverter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特殊偏移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℃ / ℉ / K / °R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TimeConverter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Second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h/min/ms/d/周/y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SpeedConverter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8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km/h/马赫/光速/节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PressureConverter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Pascal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bar/atm/psi/托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EnergyConverter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14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Joule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cal/kWh/eV/BTU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109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覆盖物理/工程/日常生活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五、测试体系设计与架构</a:t>
            </a:r>
          </a:p>
        </p:txBody>
      </p:sp>
      <p:sp>
        <p:nvSpPr>
          <p:cNvPr id="3" name="Trapezoid 2"/>
          <p:cNvSpPr/>
          <p:nvPr/>
        </p:nvSpPr>
        <p:spPr>
          <a:xfrm>
            <a:off x="1554480" y="1737360"/>
            <a:ext cx="1645920" cy="777240"/>
          </a:xfrm>
          <a:prstGeom prst="trapezoid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105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静态分析 / Lint (Detekt/Jacoco/Lint)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21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底层：速度快、数量多、成本低</a:t>
            </a:r>
          </a:p>
        </p:txBody>
      </p:sp>
      <p:sp>
        <p:nvSpPr>
          <p:cNvPr id="6" name="Trapezoid 5"/>
          <p:cNvSpPr/>
          <p:nvPr/>
        </p:nvSpPr>
        <p:spPr>
          <a:xfrm>
            <a:off x="822959" y="2514600"/>
            <a:ext cx="3108960" cy="777240"/>
          </a:xfrm>
          <a:prstGeom prst="trapezoid">
            <a:avLst/>
          </a:prstGeom>
          <a:solidFill>
            <a:srgbClr val="FFEC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9" y="25877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单元测试 (JUnit + MockK + Robolectric)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2898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~70+ 用例 | JVM 本地运行 | 秒级</a:t>
            </a:r>
          </a:p>
        </p:txBody>
      </p:sp>
      <p:sp>
        <p:nvSpPr>
          <p:cNvPr id="9" name="Trapezoid 8"/>
          <p:cNvSpPr/>
          <p:nvPr/>
        </p:nvSpPr>
        <p:spPr>
          <a:xfrm>
            <a:off x="91439" y="3291839"/>
            <a:ext cx="4572000" cy="777240"/>
          </a:xfrm>
          <a:prstGeom prst="trapezoid">
            <a:avLst/>
          </a:prstGeom>
          <a:solidFill>
            <a:srgbClr val="FFCC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79" y="336499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集成测试 (Espresso + AndroidX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79" y="367588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~21 用例 | 真机/模拟器 | 分钟级</a:t>
            </a:r>
          </a:p>
        </p:txBody>
      </p:sp>
      <p:sp>
        <p:nvSpPr>
          <p:cNvPr id="12" name="Trapezoid 11"/>
          <p:cNvSpPr/>
          <p:nvPr/>
        </p:nvSpPr>
        <p:spPr>
          <a:xfrm>
            <a:off x="-640080" y="4069080"/>
            <a:ext cx="6035040" cy="777240"/>
          </a:xfrm>
          <a:prstGeom prst="trapezoid">
            <a:avLst/>
          </a:prstGeom>
          <a:solidFill>
            <a:srgbClr val="FFCD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548640" y="41422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端到端测试 E2E (少量)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548640" y="445312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顶层：速度慢、数量少、成本高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754880" y="713232"/>
          <a:ext cx="40690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71800"/>
              </a:tblGrid>
              <a:tr h="3383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JUnit 4 + MockK + Robolectric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集成测试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Espresso + AndroidX Test (ActivityScenarioRule)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静态分析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Detekt Kotlin Lint + Jacoco + Android Lint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覆盖率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Jacoco (单元+集成合并报告)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54880" y="2496312"/>
          <a:ext cx="4069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691640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配置项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编译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compileSdk 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编译时使用的 SDK 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目标 SDK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targetSdk 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目标设备版本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最低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minSdk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最低兼容 Android 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SDK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@Config(sdk=[33])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模拟 SDK 版本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Kotlin 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1.9.22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编译器版本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Gradle / AGP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8.4 / 8.2.0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构建工具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28600" y="4965192"/>
          <a:ext cx="859536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645920"/>
                <a:gridCol w="914400"/>
                <a:gridCol w="3566160"/>
              </a:tblGrid>
              <a:tr h="31455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测试类型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执行位置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运行环境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耗时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覆盖重点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纯逻辑单元测试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test/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JVM 本地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秒级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纯 Kotlin 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组件测试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test/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模拟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秒~十秒级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Activity/View/Context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数据库测试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test/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+ Room 内存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十秒级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DAO CRUD / 单例线程安全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集成测试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androidTest/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真机/模拟器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分钟级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用户交互 / E2E 场景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六、单元测试设计与典型案例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85800"/>
          <a:ext cx="85953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731520"/>
                <a:gridCol w="2926080"/>
                <a:gridCol w="2743200"/>
              </a:tblGrid>
              <a:tr h="24166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测试模块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覆盖重点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测试框架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MainActivity UI 交互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 核心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CalculatorImpl / Constants / Format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MockK + JUnit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helpers.converters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全部 9 种转换器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纯 JUnit (JVM)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databases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单例 &amp; DAO 操作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+ Room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adapters/dialogs/models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Adapter/Dialog/State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JUnit / Mockito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**18**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**~70+**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全部核心模块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10312" y="2487168"/>
            <a:ext cx="416052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2487168"/>
            <a:ext cx="4160520" cy="301752"/>
          </a:xfrm>
          <a:prstGeom prst="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" y="2514600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案例一: MainActivity Robolectric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85292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使用 @RunWith(RobolectricTestRunner::class)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11810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@Config(sdk=[33]) + @LooperMode(PAUSED)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338328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6个方法: 加减乘除 + 清除操作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64845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shadowOf(Looper).idle() 确保 UI 更新完成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91363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验证: assertEquals('3', result)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487168"/>
            <a:ext cx="416052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2487168"/>
            <a:ext cx="4160520" cy="301752"/>
          </a:xfrm>
          <a:prstGeom prst="rect">
            <a:avLst/>
          </a:prstGeom>
          <a:solidFill>
            <a:srgbClr val="7B1F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514600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案例二: CalculatorImpl MockK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85292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mockk(relaxed=true) 宽松 Mock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311810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mockkConstructor(NumberFormatHelper)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338328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拦截 formatForDisplay 返回原值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364845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verify(exactly=N) 精确控制调用次数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391363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隔离 NumberFormatHelper 外部依赖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" y="4416552"/>
            <a:ext cx="416052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312" y="4416552"/>
            <a:ext cx="4160520" cy="301752"/>
          </a:xfrm>
          <a:prstGeom prst="rect">
            <a:avLst/>
          </a:prstGeom>
          <a:solidFill>
            <a:srgbClr val="FB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" y="4443984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案例三: 数据库单例 &amp; DAO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" y="478231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单例唯一性: assertSame(inst1, inst2)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504748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线程安全: CountDownLatch 10线程并发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" y="531266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销毁重建: destroyInstance 后重新获取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557784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DAO CRUD: 插入/查询/LIMIT/批量/清空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" y="584301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Room 内存数据库独立测试文件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07992" y="4416552"/>
            <a:ext cx="416052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008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07992" y="4416552"/>
            <a:ext cx="4160520" cy="301752"/>
          </a:xfrm>
          <a:prstGeom prst="rect">
            <a:avLst/>
          </a:prstGeom>
          <a:solidFill>
            <a:srgbClr val="0089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4443984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案例四: Converter Roundtrip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478231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纯 JVM 测试，无需 Android 依赖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1" y="504748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Roundtrip: value → toBase → fromBase ==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1" y="531266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排除 TemperatureConverter (非线性)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1" y="557784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零值/同单位恒等性验证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584301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BigDecimal compareTo==0 精确断言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七、Espresso UI 集成测试设计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713232"/>
          <a:ext cx="4114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"/>
                <a:gridCol w="1097280"/>
                <a:gridCol w="640080"/>
              </a:tblGrid>
              <a:tr h="3069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页面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MainActivityEspressoTest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计算、清除、长按清空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主计算器界面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SettingsActivityEspressoTest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设置项切换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设置页面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UnitConverterActivityEspressoTest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输入、清除、转换显示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单位转换页面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UnitConverterPickerActivityTest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类型选择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单位选择器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WidgetConfigureActivityTest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颜色配置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小部件配置页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**~21**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5 个 Activity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通过率 ~90%+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07408" y="713232"/>
          <a:ext cx="43891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00200"/>
                <a:gridCol w="1600200"/>
              </a:tblGrid>
              <a:tr h="30697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Robolectric 单元测试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Espresso 集成测试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运行环境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JVM (模拟 Android)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真机 / 模拟器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交互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view.performClick() 直接调用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onView(...).perform(click())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断言方式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assertEquals(text, result)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check(matches(withText()))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生命周期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手动 create/start/resume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ActivityScenarioRule 自动管理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执行速度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~100ms /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~1-3s /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逻辑验证 / CI 快速反馈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真实交互 / E2E 验收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2880" y="3627755"/>
            <a:ext cx="4155440" cy="2707640"/>
          </a:xfrm>
          <a:prstGeom prst="roundRect">
            <a:avLst/>
          </a:prstGeom>
          <a:solidFill>
            <a:srgbClr val="1E1E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3696589"/>
            <a:ext cx="389534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4D4"/>
                </a:solidFill>
                <a:latin typeface="Consolas"/>
              </a:defRPr>
            </a:pPr>
            <a:r>
              <a:t>// MainActivityEspressoTest.kt</a:t>
            </a:r>
            <a:br/>
            <a:r>
              <a:t>@RunWith(AndroidJUnit4::class)</a:t>
            </a:r>
            <a:br/>
            <a:r>
              <a:t>class MainActivityEspressoTest {</a:t>
            </a:r>
            <a:br/>
            <a:r>
              <a:t>    @get:Rule</a:t>
            </a:r>
            <a:br/>
            <a:r>
              <a:t>    val activityRule = ActivityScenarioRule(</a:t>
            </a:r>
            <a:br/>
            <a:r>
              <a:t>        MainActivity::class.java)</a:t>
            </a:r>
            <a:br/>
            <a:br/>
            <a:r>
              <a:t>    @Test</a:t>
            </a:r>
            <a:br/>
            <a:r>
              <a:t>    fun testAddTwoNumbers() {</a:t>
            </a:r>
            <a:br/>
            <a:r>
              <a:t>        clickView(R.id.btn_1)</a:t>
            </a:r>
            <a:br/>
            <a:r>
              <a:t>        clickView(R.id.btn_plus)</a:t>
            </a:r>
            <a:br/>
            <a:r>
              <a:t>        clickView(R.id.btn_2)</a:t>
            </a:r>
            <a:br/>
            <a:r>
              <a:t>        clickView(R.id.btn_equals)</a:t>
            </a:r>
            <a:br/>
            <a:br/>
            <a:r>
              <a:t>        onView(withId(R.id.result))</a:t>
            </a:r>
            <a:br/>
            <a:r>
              <a:t>            .check(matches(withText("3")))</a:t>
            </a:r>
            <a:br/>
            <a:r>
              <a:t>    }</a:t>
            </a:r>
            <a:br/>
            <a:br/>
            <a:r>
              <a:t>    @Test fun testClearAllOnLongPress() { ... }</a:t>
            </a:r>
            <a:br/>
            <a: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07408" y="2953512"/>
          <a:ext cx="4389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657600"/>
              </a:tblGrid>
              <a:tr h="29146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① 安装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安装 APK 到测试设备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② 启动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ActivityScenarioRule 自动启动 Activity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③ 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Espresso onView(withId(...)) 定位控件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④ 操作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perform(click() / longClick()) 模拟用户行为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⑤ 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check(matches(withText(...))) 验证结果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⑥ 判定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PASS → 下一个 | FAIL → 截图+记录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⑦ 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生成 HTML/XML 测试报告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八、测试要求与覆盖率标准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713232"/>
          <a:ext cx="4114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188720"/>
                <a:gridCol w="914400"/>
                <a:gridCol w="731520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要求类别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功能正确性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核心业务逻辑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100% 正确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已达成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Line Coverage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行覆盖率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待提升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Method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方法覆盖率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Branch Coverage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分支覆盖率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70%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未达标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Class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类覆盖率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边界条件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边界值测试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异常处理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异常路径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Isosceles Triangle 3"/>
          <p:cNvSpPr/>
          <p:nvPr/>
        </p:nvSpPr>
        <p:spPr>
          <a:xfrm>
            <a:off x="5943600" y="777240"/>
            <a:ext cx="2560320" cy="22860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777240"/>
            <a:ext cx="3474720" cy="365760"/>
          </a:xfrm>
          <a:prstGeom prst="rect">
            <a:avLst/>
          </a:prstGeom>
          <a:solidFill>
            <a:srgbClr val="FFCD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8412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可靠性 — 无间歇性失败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170432"/>
            <a:ext cx="3108960" cy="365760"/>
          </a:xfrm>
          <a:prstGeom prst="rect">
            <a:avLst/>
          </a:prstGeom>
          <a:solidFill>
            <a:srgbClr val="FFEC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234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可重复性 — 任意次执行一致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563624"/>
            <a:ext cx="2743200" cy="365760"/>
          </a:xfrm>
          <a:prstGeom prst="rect">
            <a:avLst/>
          </a:prstGeom>
          <a:solidFill>
            <a:srgbClr val="FFE0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627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独立性 — 测试间无依赖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956816"/>
            <a:ext cx="2377440" cy="365760"/>
          </a:xfrm>
          <a:prstGeom prst="rect">
            <a:avLst/>
          </a:prstGeom>
          <a:solidFill>
            <a:srgbClr val="FEE0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020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快速执行 — 秒级完成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350008"/>
            <a:ext cx="2011680" cy="365760"/>
          </a:xfrm>
          <a:prstGeom prst="rect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4140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可读性强 — 命名清晰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743200"/>
            <a:ext cx="1645920" cy="365760"/>
          </a:xfrm>
          <a:prstGeom prst="rect">
            <a:avLst/>
          </a:prstGeom>
          <a:solidFill>
            <a:srgbClr val="B3E5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8072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全面性与针对性平衡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3474720"/>
            <a:ext cx="8656955" cy="3098165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47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F59B"/>
                </a:solidFill>
                <a:latin typeface="微软雅黑"/>
              </a:defRPr>
            </a:pPr>
            <a:r>
              <a:t>Jacoco 配置 (build.gradle.kts)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840480"/>
            <a:ext cx="8321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onsolas"/>
              </a:defRPr>
            </a:pPr>
            <a:r>
              <a:t>android {</a:t>
            </a:r>
            <a:br/>
            <a:r>
              <a:t>    buildTypes {</a:t>
            </a:r>
            <a:br/>
            <a:r>
              <a:t>        debug {</a:t>
            </a:r>
            <a:br/>
            <a:r>
              <a:t>            enableUnitTestCoverage = true</a:t>
            </a:r>
            <a:br/>
            <a:r>
              <a:t>            enableAndroidTestCoverage = true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  <a:br/>
            <a:br/>
            <a:r>
              <a:t># 排除规则:</a:t>
            </a:r>
            <a:br/>
            <a:r>
              <a:t>#   • 自动生成代码 (BuildConfig, R类, DataBinding)</a:t>
            </a:r>
            <a:br/>
            <a:r>
              <a:t>#   • 接口默认方法</a:t>
            </a:r>
            <a:br/>
            <a:r>
              <a:t>#   • 仅含 getter/setter 的简单数据类</a:t>
            </a:r>
            <a:br/>
            <a:br/>
            <a:r>
              <a:t># 生成命令:</a:t>
            </a:r>
            <a:br/>
            <a:r>
              <a:t>#   ./gradlew testDebugUnitTestJacocoReport</a:t>
            </a:r>
            <a:br/>
            <a:r>
              <a:t>#   ./gradlew createDebugCoverageReport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九、覆盖率统计与模块分析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768096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9" y="98755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8C00"/>
                </a:solidFill>
                <a:latin typeface="微软雅黑"/>
              </a:defRPr>
            </a:pPr>
            <a:r>
              <a:t>78.4%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9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(131/167)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768096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98755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微软雅黑"/>
              </a:defRPr>
            </a:pPr>
            <a:r>
              <a:t>42.2%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(191/453)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768096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98755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微软雅黑"/>
              </a:defRPr>
            </a:pPr>
            <a: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(0/598)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768096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98755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微软雅黑"/>
              </a:defRPr>
            </a:pPr>
            <a:r>
              <a:t>35.3%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(746/2116)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82880" y="1783080"/>
          <a:ext cx="50292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685800"/>
                <a:gridCol w="640080"/>
                <a:gridCol w="640080"/>
                <a:gridCol w="1051560"/>
              </a:tblGrid>
              <a:tr h="30697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Class%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Method%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Branch%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Line%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helpers.converters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12.5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待补充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views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databases/compose/adapters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其他 (6个包)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21808" y="1783080"/>
            <a:ext cx="3520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为什么 converters 最高？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无 Android 依赖，纯 JVM 逻辑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策略模式优势，独立易测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Roundtrip 一个方法覆盖全部单位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BigDecimal 精确比对避免浮点误差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为什么其他模块低？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✗ activities/views 需要 Robolectric/Espresso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✗ databases 已有测试但未纳入 Jacoco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✗ compose 需要 Compose Testing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改进计划: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P0: 完善 activities Robolectric → Line +30%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P0: databases DAO 纳入 Jacoco → Line +5%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P1: views ConverterView 测试 → Line +10%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P1: helpers 增强 CalculatorImpl → Line +8%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" y="4023360"/>
            <a:ext cx="8595360" cy="1280160"/>
          </a:xfrm>
          <a:prstGeom prst="roundRect">
            <a:avLst/>
          </a:prstGeom>
          <a:solidFill>
            <a:srgbClr val="F8F9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0873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微软雅黑"/>
              </a:defRPr>
            </a:pPr>
            <a:r>
              <a:t>各模块行覆盖率对比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3591763" cy="256032"/>
          </a:xfrm>
          <a:prstGeom prst="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helpers.converters: 98.2%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helpers: 0.2%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activities: 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views: 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databases: 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compose: 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others: 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十、性能测试与瓶颈分析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713232"/>
          <a:ext cx="4114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914400"/>
                <a:gridCol w="100584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基准值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实测值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冷启动时间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500ms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~380ms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热启动时间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200ms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~120ms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常规计算响应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16ms (1帧)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复杂计算响应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100ms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~45ms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良好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FPS (交互状态)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&gt;= 55fps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58-60fps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流畅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内存占用 (空闲)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50MB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~35MB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内存占用 (峰值)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150MB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~85MB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良好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CPU 占用 (密集)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80%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~45%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GC 频率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5次/min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~2-3次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407408" y="713232"/>
            <a:ext cx="4279392" cy="2377440"/>
          </a:xfrm>
          <a:prstGeom prst="roundRect">
            <a:avLst/>
          </a:prstGeom>
          <a:solidFill>
            <a:srgbClr val="FD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44568" y="7863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8C00"/>
                </a:solidFill>
                <a:latin typeface="微软雅黑"/>
              </a:defRPr>
            </a:pPr>
            <a:r>
              <a:t>CPU 热点分布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4568" y="10515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CalculatorImpl.numpadClicked()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0515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234439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StringBuilder.append 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3898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EvalEx Expression.evaluate()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3898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5727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词法 Lexer 10% / Parser 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2821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ConverterView.convertValue()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2821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1109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toBase 10% / fromBase 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0665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Room DB 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665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24942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INSERT/UPDATE 5% / SELECT 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4048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UI Rendering (Measure/Layout)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40487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7432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Other (GC/System)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7432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15%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407408" y="3200400"/>
          <a:ext cx="427939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77240"/>
                <a:gridCol w="2130552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瓶颈位置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优化建议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线程阻塞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🔴 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将 EvalEx 求值移至协程/后台线程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NumberFormatHelper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引入缓存机制，仅在值变化时格式化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ConverterView 实时转换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加入防抖 debounce 300ms 延迟后转换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Room 写入频繁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批量写入或 Write-Ahead Logging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EvalEx 解析开销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🟢 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固定模式预编译表达式模板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182880" y="3840480"/>
            <a:ext cx="4114800" cy="1444752"/>
          </a:xfrm>
          <a:prstGeom prst="roundRect">
            <a:avLst/>
          </a:prstGeom>
          <a:solidFill>
            <a:srgbClr val="E8AFC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28600" y="3913632"/>
          <a:ext cx="40233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1280160"/>
              </a:tblGrid>
              <a:tr h="16916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场景编号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名称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关注指标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冷启动测试 (&lt;500ms)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启动耗时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连续基础计算 ×100次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CPU / 响应速度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连续复杂计算 ×100次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CPU / 内存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大数精度计算 (999M×999M)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内存 / 时间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单位转换压力测试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响应 / 抖动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历史记录插入 ×1000条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DB IO / 内存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长时间运行稳定性 10min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泄漏 / GC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4407408" y="5074920"/>
            <a:ext cx="4279392" cy="320040"/>
          </a:xfrm>
          <a:prstGeom prst="roundRect">
            <a:avLst/>
          </a:prstGeom>
          <a:solidFill>
            <a:srgbClr val="DCE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5111496"/>
            <a:ext cx="4005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3A047"/>
                </a:solidFill>
                <a:latin typeface="微软雅黑"/>
              </a:defRPr>
            </a:pPr>
            <a:r>
              <a:t>路线图: Phase1 协程化+防抖 → Phase2 缓存+WAL → Phase3 Compose迁移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十一、测试总结与未来展望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13232"/>
            <a:ext cx="2057400" cy="77724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758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测试规模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21031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18类 / 91+用例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713232"/>
            <a:ext cx="2057400" cy="77724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758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整体通过率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0058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~95%+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713232"/>
            <a:ext cx="2057400" cy="777240"/>
          </a:xfrm>
          <a:prstGeom prst="roundRect">
            <a:avLst/>
          </a:prstGeom>
          <a:solidFill>
            <a:srgbClr val="FB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758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行覆盖率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0058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35.3%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713232"/>
            <a:ext cx="2057400" cy="77724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758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冷启动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0058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~380ms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82880" y="160020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822960"/>
                <a:gridCol w="10058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功能模块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集成测试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基础四则运算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数字格式化 (i18n)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 (9类)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**优秀 98.2%**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计算历史 CRUD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基本完整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交互 (按钮/清除)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高级运算 (幂/根/%)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待完善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设置页面 (Compose)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小部件 Widget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基础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407408" y="1600200"/>
          <a:ext cx="42793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353312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挑战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经验教训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依赖隔离困难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MockK mock 构造函数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精心设计 Mock 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vs 真机差异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双版本互补策略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单元验证逻辑 / 集成验证行为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Jacoco 覆盖率合并问题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分别报告交叉验证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排除自动生成代码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单例测试污染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独立 DB 文件 + tearDown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测试隔离至关重要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温度非线性转换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过滤 TemperatureConverter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特殊边界需单独处理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测试不稳定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IdleResource 显式等待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避免硬编码 sleep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82880" y="4434840"/>
            <a:ext cx="8822690" cy="1935480"/>
          </a:xfrm>
          <a:prstGeom prst="roundRect">
            <a:avLst/>
          </a:prstGeom>
          <a:solidFill>
            <a:srgbClr val="2835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4507992"/>
            <a:ext cx="1188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BDEFB"/>
                </a:solidFill>
                <a:latin typeface="微软雅黑"/>
              </a:defRPr>
            </a:pPr>
            <a:r>
              <a:t>功能正确性: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50799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核心四则运算、单位转换、CRUD 操作均符合预期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677155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 测试覆盖率:  converters 模块 98.2% 优异；其他模块待提升 (整体 35.3%)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846319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 性能表现:  冷启动 ~380ms，内存 35-85MB，CPU 负载健康，优于行业基准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5015483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 总评:  系统功能基本正确，测试框架搭建完成，具备生产就绪潜力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9530</Words>
  <Application>WPS 文字</Application>
  <PresentationFormat>On-screen Show (4:3)</PresentationFormat>
  <Paragraphs>1444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汉仪旗黑</vt:lpstr>
      <vt:lpstr>Consolas</vt:lpstr>
      <vt:lpstr>Calibri</vt:lpstr>
      <vt:lpstr>Helvetica Neue</vt:lpstr>
      <vt:lpstr>宋体</vt:lpstr>
      <vt:lpstr>汉仪书宋二KW</vt:lpstr>
      <vt:lpstr>微软雅黑</vt:lpstr>
      <vt:lpstr>Arial Unicode MS</vt:lpstr>
      <vt:lpstr>Thonburi</vt:lpstr>
      <vt:lpstr>Consolas</vt:lpstr>
      <vt:lpstr>微软雅黑</vt:lpstr>
      <vt:lpstr>苹方-简</vt:lpstr>
      <vt:lpstr>Apple Color Emoji</vt:lpstr>
      <vt:lpstr>宋体-简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Giao。</cp:lastModifiedBy>
  <cp:revision>3</cp:revision>
  <dcterms:created xsi:type="dcterms:W3CDTF">2026-06-14T08:02:39Z</dcterms:created>
  <dcterms:modified xsi:type="dcterms:W3CDTF">2026-06-14T08:02:39Z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2052-12.1.24703.24703</vt:lpwstr>
  </property>
  <property fmtid="{D5CDD505-2E9C-101B-9397-08002B2CF9AE}" pid="3" name="ICV">
    <vt:lpwstr>C8736189C74438D718602E6A773CB152_42</vt:lpwstr>
  </property>
</Properties>
</file>